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This demo walks through a multi-agent AI incident response system. The core idea is simple: when a critical production alert fires, agents investigate and summarize, but humans still review and decide. We will follow one incident from signal to evidence, review, remediation, trace, and postmortem.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by framing the problem. In incident response, the hard part is not only finding a likely cause; it is proving why we believe it, deciding what to do safely, and preserving a record. This system uses multiple AI agents to investigate, summarize, recommend, and answer questions, while the human remains responsible for the final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architecture at demo altitude. The browser app is a Next.js PWA. It talks to a FastAPI backend through a typed API client. The backend response model tells us what the agent layer produces: root cause, evidence catalog, agent invocations, compact contexts, quality gates, review events, and recommendations. The UI then converts those outputs into an operator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introduce the five phases we will show in the recording. First, we launch a scenario. Second, agents investigate and update status. Third, the system explains the root cause using grounded evidence. Fourth, the human reviewer makes governance decisions. Fifth, approved recovery steps and the postmortem turn the investigation into operational follow-through.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agents as roles rather than pretending we know hidden backend class names. The important point for the demo is the contract: every investigation stage produces structured data. Signal intake creates the incident, evidence gathering populates the catalog, RCA synthesis links claims to evidence, recommendation creates safe next steps, and trace export lets us inspect what happened across agent spans.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During the demo, start on the dashboard. Show the three scenario tiles. Launch one, ideally DB Pool Exhaustion because it is concrete and easy to explain. Point out that the dashboard tracks investigating, needs review, and total incidents. Also mention duplicate grouping: the queue is designed for operations, not just for listing every run forever.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scenario opens, walk through the incident page. The overview is for fast comprehension: root cause, confidence, impact, executive and engineering summary. The evidence tab is where we prove the claim. The review tab is where governance happens. The trace tab is the audit trail of agent work. This is the heart of the multi-agent story: useful automation with inspectable reasoning and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safety story. The reviewer has more than a yes button. They can reject, mark evidence insufficient, request more data, or override the root cause. Remediation is also decisioned step by step. That matters because incident response is high-impact: AI can accelerate the work, but production action still needs human accountability.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recording spine. Avoid clicking every possible button. The crisp demo path is dashboard, launch, overview, evidence, review, trace, postmortem. If the backend is still processing, call out that polling keeps the incident live and the UI refreshes as agents complete their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central takeaway. The system is not trying to hide the human or replace operational judgment. It gives the operator a faster, better-supported incident narrative: what happened, why we think it happened, what evidence supports that view, what actions are recommended, and who approved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F05F30-0DFA-C9F9-F22E-47AE9AC763B9}"/>
              </a:ext>
            </a:extLst>
          </p:cNvPr>
          <p:cNvSpPr txBox="1"/>
          <p:nvPr userDrawn="1">
            <p:extLst>
              <p:ext uri="{1162E1C5-73C7-4A58-AE30-91384D911F3F}">
                <p184:classification xmlns:p184="http://schemas.microsoft.com/office/powerpoint/2018/4/main" val="hdr"/>
              </p:ext>
            </p:extLst>
          </p:nvPr>
        </p:nvSpPr>
        <p:spPr>
          <a:xfrm>
            <a:off x="63500" y="63500"/>
            <a:ext cx="12700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Classification: Internal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C7A9B33-0CD5-4691-B18E-8575619A54E0}"/>
              </a:ext>
            </a:extLst>
          </p:cNvPr>
          <p:cNvSpPr>
            <a:spLocks noGrp="1"/>
          </p:cNvSpPr>
          <p:nvPr/>
        </p:nvSpPr>
        <p:spPr>
          <a:xfrm>
            <a:off x="514350" y="495300"/>
            <a:ext cx="2857500" cy="266700"/>
          </a:xfrm>
          <a:prstGeom prst="rect">
            <a:avLst/>
          </a:prstGeom>
          <a:noFill/>
          <a:ln w="0">
            <a:noFill/>
            <a:prstDash val="solid"/>
          </a:ln>
        </p:spPr>
        <p:txBody>
          <a:bodyPr anchor="t"/>
          <a:lstStyle/>
          <a:p>
            <a:pPr algn="l">
              <a:defRPr sz="1200" b="1">
                <a:solidFill>
                  <a:srgbClr val="38BDF8"/>
                </a:solidFill>
                <a:latin typeface="Aptos"/>
                <a:ea typeface="Aptos"/>
                <a:cs typeface="Aptos"/>
              </a:defRPr>
            </a:pPr>
            <a:r>
              <a:rPr sz="1200" b="1">
                <a:solidFill>
                  <a:srgbClr val="38BDF8"/>
                </a:solidFill>
                <a:latin typeface="Aptos"/>
                <a:ea typeface="Aptos"/>
                <a:cs typeface="Aptos"/>
              </a:rPr>
              <a:t>MULTI-AGENT DEMO</a:t>
            </a:r>
          </a:p>
        </p:txBody>
      </p:sp>
      <p:sp>
        <p:nvSpPr>
          <p:cNvPr id="2" name="Rectangle 1">
            <a:extLst>
              <a:ext uri="{FF2B5EF4-FFF2-40B4-BE49-F238E27FC236}">
                <a16:creationId xmlns:a16="http://schemas.microsoft.com/office/drawing/2014/main" id="{1E5DB801-ED4F-429A-A990-A627F2DFDA43}"/>
              </a:ext>
            </a:extLst>
          </p:cNvPr>
          <p:cNvSpPr>
            <a:spLocks noGrp="1"/>
          </p:cNvSpPr>
          <p:nvPr/>
        </p:nvSpPr>
        <p:spPr>
          <a:xfrm>
            <a:off x="514350" y="1600200"/>
            <a:ext cx="8191500" cy="1809750"/>
          </a:xfrm>
          <a:prstGeom prst="rect">
            <a:avLst/>
          </a:prstGeom>
          <a:noFill/>
          <a:ln w="0">
            <a:noFill/>
            <a:prstDash val="solid"/>
          </a:ln>
        </p:spPr>
        <p:txBody>
          <a:bodyPr anchor="t"/>
          <a:lstStyle/>
          <a:p>
            <a:pPr algn="l">
              <a:defRPr sz="4800" b="1">
                <a:solidFill>
                  <a:srgbClr val="FFFFFF"/>
                </a:solidFill>
                <a:latin typeface="Aptos Display"/>
                <a:ea typeface="Aptos Display"/>
                <a:cs typeface="Aptos Display"/>
              </a:defRPr>
            </a:pPr>
            <a:r>
              <a:rPr sz="4800" b="1">
                <a:solidFill>
                  <a:srgbClr val="FFFFFF"/>
                </a:solidFill>
                <a:latin typeface="Aptos Display"/>
                <a:ea typeface="Aptos Display"/>
                <a:cs typeface="Aptos Display"/>
              </a:rPr>
              <a:t>Multi-Agent Incident Response Workflow</a:t>
            </a:r>
          </a:p>
        </p:txBody>
      </p:sp>
      <p:sp>
        <p:nvSpPr>
          <p:cNvPr id="3" name="Rectangle 2">
            <a:extLst>
              <a:ext uri="{FF2B5EF4-FFF2-40B4-BE49-F238E27FC236}">
                <a16:creationId xmlns:a16="http://schemas.microsoft.com/office/drawing/2014/main" id="{8A73D198-0D1B-4EF1-9BF8-C1A3BD36DF4E}"/>
              </a:ext>
            </a:extLst>
          </p:cNvPr>
          <p:cNvSpPr>
            <a:spLocks noGrp="1"/>
          </p:cNvSpPr>
          <p:nvPr/>
        </p:nvSpPr>
        <p:spPr>
          <a:xfrm>
            <a:off x="552450" y="3695700"/>
            <a:ext cx="7239000" cy="819150"/>
          </a:xfrm>
          <a:prstGeom prst="rect">
            <a:avLst/>
          </a:prstGeom>
          <a:noFill/>
          <a:ln w="0">
            <a:noFill/>
            <a:prstDash val="solid"/>
          </a:ln>
        </p:spPr>
        <p:txBody>
          <a:bodyPr anchor="t"/>
          <a:lstStyle/>
          <a:p>
            <a:pPr algn="l">
              <a:defRPr sz="1950" b="0">
                <a:solidFill>
                  <a:srgbClr val="CBD5E1"/>
                </a:solidFill>
                <a:latin typeface="Aptos"/>
                <a:ea typeface="Aptos"/>
                <a:cs typeface="Aptos"/>
              </a:defRPr>
            </a:pPr>
            <a:r>
              <a:rPr sz="1950" b="0">
                <a:solidFill>
                  <a:srgbClr val="CBD5E1"/>
                </a:solidFill>
                <a:latin typeface="Aptos"/>
                <a:ea typeface="Aptos"/>
                <a:cs typeface="Aptos"/>
              </a:rPr>
              <a:t>A demo-ready walkthrough of the AI Operations Command Center from alert signal to governed remediation.</a:t>
            </a:r>
          </a:p>
        </p:txBody>
      </p:sp>
      <p:sp>
        <p:nvSpPr>
          <p:cNvPr id="4" name="Rectangle: Rounded Corners 3">
            <a:extLst>
              <a:ext uri="{FF2B5EF4-FFF2-40B4-BE49-F238E27FC236}">
                <a16:creationId xmlns:a16="http://schemas.microsoft.com/office/drawing/2014/main" id="{49A7782E-E0F6-4EEE-9583-9159B53FB115}"/>
              </a:ext>
            </a:extLst>
          </p:cNvPr>
          <p:cNvSpPr>
            <a:spLocks noGrp="1"/>
          </p:cNvSpPr>
          <p:nvPr/>
        </p:nvSpPr>
        <p:spPr>
          <a:xfrm>
            <a:off x="8810625" y="1143000"/>
            <a:ext cx="2476500" cy="4000500"/>
          </a:xfrm>
          <a:prstGeom prst="roundRect">
            <a:avLst>
              <a:gd name="adj" fmla="val 2308"/>
            </a:avLst>
          </a:prstGeom>
          <a:solidFill>
            <a:srgbClr val="0F172A"/>
          </a:solidFill>
          <a:ln w="9525">
            <a:solidFill>
              <a:srgbClr val="334155"/>
            </a:solidFill>
            <a:prstDash val="solid"/>
          </a:ln>
        </p:spPr>
        <p:txBody>
          <a:bodyPr/>
          <a:lstStyle/>
          <a:p>
            <a:endParaRPr lang="en-US"/>
          </a:p>
        </p:txBody>
      </p:sp>
      <p:sp>
        <p:nvSpPr>
          <p:cNvPr id="5" name="Rectangle: Rounded Corners 4">
            <a:extLst>
              <a:ext uri="{FF2B5EF4-FFF2-40B4-BE49-F238E27FC236}">
                <a16:creationId xmlns:a16="http://schemas.microsoft.com/office/drawing/2014/main" id="{122135BC-FF78-4EC1-A9A8-3C00EA3D0FFB}"/>
              </a:ext>
            </a:extLst>
          </p:cNvPr>
          <p:cNvSpPr>
            <a:spLocks noGrp="1"/>
          </p:cNvSpPr>
          <p:nvPr/>
        </p:nvSpPr>
        <p:spPr>
          <a:xfrm>
            <a:off x="9144000" y="1504950"/>
            <a:ext cx="1809750" cy="400050"/>
          </a:xfrm>
          <a:prstGeom prst="roundRect">
            <a:avLst>
              <a:gd name="adj" fmla="val 14286"/>
            </a:avLst>
          </a:prstGeom>
          <a:solidFill>
            <a:srgbClr val="1E293B"/>
          </a:solidFill>
          <a:ln w="9525">
            <a:solidFill>
              <a:srgbClr val="475569"/>
            </a:solidFill>
            <a:prstDash val="solid"/>
          </a:ln>
        </p:spPr>
        <p:txBody>
          <a:bodyPr/>
          <a:lstStyle/>
          <a:p>
            <a:endParaRPr lang="en-US"/>
          </a:p>
        </p:txBody>
      </p:sp>
      <p:sp>
        <p:nvSpPr>
          <p:cNvPr id="6" name="Rectangle 5">
            <a:extLst>
              <a:ext uri="{FF2B5EF4-FFF2-40B4-BE49-F238E27FC236}">
                <a16:creationId xmlns:a16="http://schemas.microsoft.com/office/drawing/2014/main" id="{FE8E6EAD-D68A-4140-AFE9-DC06C4AEF969}"/>
              </a:ext>
            </a:extLst>
          </p:cNvPr>
          <p:cNvSpPr>
            <a:spLocks noGrp="1"/>
          </p:cNvSpPr>
          <p:nvPr/>
        </p:nvSpPr>
        <p:spPr>
          <a:xfrm>
            <a:off x="9353550" y="1590675"/>
            <a:ext cx="1390650" cy="228600"/>
          </a:xfrm>
          <a:prstGeom prst="rect">
            <a:avLst/>
          </a:prstGeom>
          <a:noFill/>
          <a:ln w="0">
            <a:noFill/>
            <a:prstDash val="solid"/>
          </a:ln>
        </p:spPr>
        <p:txBody>
          <a:bodyPr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Signal</a:t>
            </a:r>
          </a:p>
        </p:txBody>
      </p:sp>
      <p:sp>
        <p:nvSpPr>
          <p:cNvPr id="7" name="Rectangle: Rounded Corners 6">
            <a:extLst>
              <a:ext uri="{FF2B5EF4-FFF2-40B4-BE49-F238E27FC236}">
                <a16:creationId xmlns:a16="http://schemas.microsoft.com/office/drawing/2014/main" id="{D0A563A8-BB70-4587-9A3C-5831AD4A2830}"/>
              </a:ext>
            </a:extLst>
          </p:cNvPr>
          <p:cNvSpPr>
            <a:spLocks noGrp="1"/>
          </p:cNvSpPr>
          <p:nvPr/>
        </p:nvSpPr>
        <p:spPr>
          <a:xfrm>
            <a:off x="9144000" y="2171700"/>
            <a:ext cx="1809750" cy="400050"/>
          </a:xfrm>
          <a:prstGeom prst="roundRect">
            <a:avLst>
              <a:gd name="adj" fmla="val 14286"/>
            </a:avLst>
          </a:prstGeom>
          <a:solidFill>
            <a:srgbClr val="1E40AF"/>
          </a:solidFill>
          <a:ln w="9525">
            <a:solidFill>
              <a:srgbClr val="475569"/>
            </a:solidFill>
            <a:prstDash val="solid"/>
          </a:ln>
        </p:spPr>
        <p:txBody>
          <a:bodyPr/>
          <a:lstStyle/>
          <a:p>
            <a:endParaRPr lang="en-US"/>
          </a:p>
        </p:txBody>
      </p:sp>
      <p:sp>
        <p:nvSpPr>
          <p:cNvPr id="8" name="Rectangle 7">
            <a:extLst>
              <a:ext uri="{FF2B5EF4-FFF2-40B4-BE49-F238E27FC236}">
                <a16:creationId xmlns:a16="http://schemas.microsoft.com/office/drawing/2014/main" id="{926DB30A-5FDA-4702-91A4-6B03BBE685B5}"/>
              </a:ext>
            </a:extLst>
          </p:cNvPr>
          <p:cNvSpPr>
            <a:spLocks noGrp="1"/>
          </p:cNvSpPr>
          <p:nvPr/>
        </p:nvSpPr>
        <p:spPr>
          <a:xfrm>
            <a:off x="9353550" y="2257425"/>
            <a:ext cx="1390650" cy="228600"/>
          </a:xfrm>
          <a:prstGeom prst="rect">
            <a:avLst/>
          </a:prstGeom>
          <a:noFill/>
          <a:ln w="0">
            <a:noFill/>
            <a:prstDash val="solid"/>
          </a:ln>
        </p:spPr>
        <p:txBody>
          <a:bodyPr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Agents</a:t>
            </a:r>
          </a:p>
        </p:txBody>
      </p:sp>
      <p:sp>
        <p:nvSpPr>
          <p:cNvPr id="9" name="Rectangle: Rounded Corners 8">
            <a:extLst>
              <a:ext uri="{FF2B5EF4-FFF2-40B4-BE49-F238E27FC236}">
                <a16:creationId xmlns:a16="http://schemas.microsoft.com/office/drawing/2014/main" id="{DB45184A-128D-4C7A-ADE2-972E3FA651CB}"/>
              </a:ext>
            </a:extLst>
          </p:cNvPr>
          <p:cNvSpPr>
            <a:spLocks noGrp="1"/>
          </p:cNvSpPr>
          <p:nvPr/>
        </p:nvSpPr>
        <p:spPr>
          <a:xfrm>
            <a:off x="9144000" y="2838450"/>
            <a:ext cx="1809750" cy="400050"/>
          </a:xfrm>
          <a:prstGeom prst="roundRect">
            <a:avLst>
              <a:gd name="adj" fmla="val 14286"/>
            </a:avLst>
          </a:prstGeom>
          <a:solidFill>
            <a:srgbClr val="1E293B"/>
          </a:solidFill>
          <a:ln w="9525">
            <a:solidFill>
              <a:srgbClr val="475569"/>
            </a:solidFill>
            <a:prstDash val="solid"/>
          </a:ln>
        </p:spPr>
        <p:txBody>
          <a:bodyPr/>
          <a:lstStyle/>
          <a:p>
            <a:endParaRPr lang="en-US"/>
          </a:p>
        </p:txBody>
      </p:sp>
      <p:sp>
        <p:nvSpPr>
          <p:cNvPr id="10" name="Rectangle 9">
            <a:extLst>
              <a:ext uri="{FF2B5EF4-FFF2-40B4-BE49-F238E27FC236}">
                <a16:creationId xmlns:a16="http://schemas.microsoft.com/office/drawing/2014/main" id="{B1311E92-C4DD-481B-ACCE-15B99AC944CA}"/>
              </a:ext>
            </a:extLst>
          </p:cNvPr>
          <p:cNvSpPr>
            <a:spLocks noGrp="1"/>
          </p:cNvSpPr>
          <p:nvPr/>
        </p:nvSpPr>
        <p:spPr>
          <a:xfrm>
            <a:off x="9353550" y="2924175"/>
            <a:ext cx="1390650" cy="228600"/>
          </a:xfrm>
          <a:prstGeom prst="rect">
            <a:avLst/>
          </a:prstGeom>
          <a:noFill/>
          <a:ln w="0">
            <a:noFill/>
            <a:prstDash val="solid"/>
          </a:ln>
        </p:spPr>
        <p:txBody>
          <a:bodyPr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11" name="Rectangle: Rounded Corners 10">
            <a:extLst>
              <a:ext uri="{FF2B5EF4-FFF2-40B4-BE49-F238E27FC236}">
                <a16:creationId xmlns:a16="http://schemas.microsoft.com/office/drawing/2014/main" id="{E4420DB2-FFE3-4E02-9038-88E403720583}"/>
              </a:ext>
            </a:extLst>
          </p:cNvPr>
          <p:cNvSpPr>
            <a:spLocks noGrp="1"/>
          </p:cNvSpPr>
          <p:nvPr/>
        </p:nvSpPr>
        <p:spPr>
          <a:xfrm>
            <a:off x="9144000" y="3505200"/>
            <a:ext cx="1809750" cy="400050"/>
          </a:xfrm>
          <a:prstGeom prst="roundRect">
            <a:avLst>
              <a:gd name="adj" fmla="val 14286"/>
            </a:avLst>
          </a:prstGeom>
          <a:solidFill>
            <a:srgbClr val="1E293B"/>
          </a:solidFill>
          <a:ln w="9525">
            <a:solidFill>
              <a:srgbClr val="475569"/>
            </a:solidFill>
            <a:prstDash val="solid"/>
          </a:ln>
        </p:spPr>
        <p:txBody>
          <a:bodyPr/>
          <a:lstStyle/>
          <a:p>
            <a:endParaRPr lang="en-US"/>
          </a:p>
        </p:txBody>
      </p:sp>
      <p:sp>
        <p:nvSpPr>
          <p:cNvPr id="12" name="Rectangle 11">
            <a:extLst>
              <a:ext uri="{FF2B5EF4-FFF2-40B4-BE49-F238E27FC236}">
                <a16:creationId xmlns:a16="http://schemas.microsoft.com/office/drawing/2014/main" id="{E5BD3C0D-750E-4AF3-A21F-F7D1957BC364}"/>
              </a:ext>
            </a:extLst>
          </p:cNvPr>
          <p:cNvSpPr>
            <a:spLocks noGrp="1"/>
          </p:cNvSpPr>
          <p:nvPr/>
        </p:nvSpPr>
        <p:spPr>
          <a:xfrm>
            <a:off x="9353550" y="3590925"/>
            <a:ext cx="1390650" cy="228600"/>
          </a:xfrm>
          <a:prstGeom prst="rect">
            <a:avLst/>
          </a:prstGeom>
          <a:noFill/>
          <a:ln w="0">
            <a:noFill/>
            <a:prstDash val="solid"/>
          </a:ln>
        </p:spPr>
        <p:txBody>
          <a:bodyPr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Review</a:t>
            </a:r>
          </a:p>
        </p:txBody>
      </p:sp>
      <p:sp>
        <p:nvSpPr>
          <p:cNvPr id="13" name="Rectangle: Rounded Corners 12">
            <a:extLst>
              <a:ext uri="{FF2B5EF4-FFF2-40B4-BE49-F238E27FC236}">
                <a16:creationId xmlns:a16="http://schemas.microsoft.com/office/drawing/2014/main" id="{11370B4E-DA51-44CF-83FF-EFE0EF6D749D}"/>
              </a:ext>
            </a:extLst>
          </p:cNvPr>
          <p:cNvSpPr>
            <a:spLocks noGrp="1"/>
          </p:cNvSpPr>
          <p:nvPr/>
        </p:nvSpPr>
        <p:spPr>
          <a:xfrm>
            <a:off x="9144000" y="4171950"/>
            <a:ext cx="1809750" cy="400050"/>
          </a:xfrm>
          <a:prstGeom prst="roundRect">
            <a:avLst>
              <a:gd name="adj" fmla="val 14286"/>
            </a:avLst>
          </a:prstGeom>
          <a:solidFill>
            <a:srgbClr val="1E293B"/>
          </a:solidFill>
          <a:ln w="9525">
            <a:solidFill>
              <a:srgbClr val="475569"/>
            </a:solidFill>
            <a:prstDash val="solid"/>
          </a:ln>
        </p:spPr>
        <p:txBody>
          <a:bodyPr/>
          <a:lstStyle/>
          <a:p>
            <a:endParaRPr lang="en-US"/>
          </a:p>
        </p:txBody>
      </p:sp>
      <p:sp>
        <p:nvSpPr>
          <p:cNvPr id="14" name="Rectangle 13">
            <a:extLst>
              <a:ext uri="{FF2B5EF4-FFF2-40B4-BE49-F238E27FC236}">
                <a16:creationId xmlns:a16="http://schemas.microsoft.com/office/drawing/2014/main" id="{6DE954C3-0056-4687-ADBE-0E50C1EBC3AE}"/>
              </a:ext>
            </a:extLst>
          </p:cNvPr>
          <p:cNvSpPr>
            <a:spLocks noGrp="1"/>
          </p:cNvSpPr>
          <p:nvPr/>
        </p:nvSpPr>
        <p:spPr>
          <a:xfrm>
            <a:off x="9353550" y="4257675"/>
            <a:ext cx="1390650" cy="228600"/>
          </a:xfrm>
          <a:prstGeom prst="rect">
            <a:avLst/>
          </a:prstGeom>
          <a:noFill/>
          <a:ln w="0">
            <a:noFill/>
            <a:prstDash val="solid"/>
          </a:ln>
        </p:spPr>
        <p:txBody>
          <a:bodyPr anchor="t"/>
          <a:lstStyle/>
          <a:p>
            <a:pPr algn="ctr">
              <a:defRPr sz="1425" b="1">
                <a:solidFill>
                  <a:srgbClr val="FFFFFF"/>
                </a:solidFill>
                <a:latin typeface="Aptos"/>
                <a:ea typeface="Aptos"/>
                <a:cs typeface="Aptos"/>
              </a:defRPr>
            </a:pPr>
            <a:r>
              <a:rPr sz="1425" b="1">
                <a:solidFill>
                  <a:srgbClr val="FFFFFF"/>
                </a:solidFill>
                <a:latin typeface="Aptos"/>
                <a:ea typeface="Aptos"/>
                <a:cs typeface="Aptos"/>
              </a:rPr>
              <a:t>Recovery</a:t>
            </a:r>
          </a:p>
        </p:txBody>
      </p:sp>
    </p:spTree>
    <p:extLst>
      <p:ext uri="{BB962C8B-B14F-4D97-AF65-F5344CB8AC3E}">
        <p14:creationId xmlns:p14="http://schemas.microsoft.com/office/powerpoint/2010/main" val="1468936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EC6C26-7B91-4D89-8A0A-5E26C769C67C}"/>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WHY THIS SYSTEM EXISTS</a:t>
            </a:r>
          </a:p>
        </p:txBody>
      </p:sp>
      <p:sp>
        <p:nvSpPr>
          <p:cNvPr id="2" name="Rectangle 1">
            <a:extLst>
              <a:ext uri="{FF2B5EF4-FFF2-40B4-BE49-F238E27FC236}">
                <a16:creationId xmlns:a16="http://schemas.microsoft.com/office/drawing/2014/main" id="{0BC17132-B89B-4631-BF55-8EF68FEB3EE7}"/>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The system turns noisy incidents into governed recovery decisions.</a:t>
            </a:r>
          </a:p>
        </p:txBody>
      </p:sp>
      <p:sp>
        <p:nvSpPr>
          <p:cNvPr id="3" name="Rectangle 2">
            <a:extLst>
              <a:ext uri="{FF2B5EF4-FFF2-40B4-BE49-F238E27FC236}">
                <a16:creationId xmlns:a16="http://schemas.microsoft.com/office/drawing/2014/main" id="{CCAC8AAD-E681-4029-9F70-6A80A85BC597}"/>
              </a:ext>
            </a:extLst>
          </p:cNvPr>
          <p:cNvSpPr>
            <a:spLocks noGrp="1"/>
          </p:cNvSpPr>
          <p:nvPr/>
        </p:nvSpPr>
        <p:spPr>
          <a:xfrm>
            <a:off x="352425" y="1799082"/>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dirty="0">
                <a:solidFill>
                  <a:srgbClr val="64748B"/>
                </a:solidFill>
                <a:latin typeface="Aptos"/>
                <a:ea typeface="Aptos"/>
                <a:cs typeface="Aptos"/>
              </a:rPr>
              <a:t>The demo is not just a dashboard tour. It shows how AI agents compress investigation time while preserving evidence, control, and auditability.</a:t>
            </a:r>
          </a:p>
        </p:txBody>
      </p:sp>
      <p:sp>
        <p:nvSpPr>
          <p:cNvPr id="4" name="Rectangle 3">
            <a:extLst>
              <a:ext uri="{FF2B5EF4-FFF2-40B4-BE49-F238E27FC236}">
                <a16:creationId xmlns:a16="http://schemas.microsoft.com/office/drawing/2014/main" id="{B813351F-622F-4EAF-AD0F-C2D11B4EF30D}"/>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F96BF5B4-4488-4971-AEAB-4CA7EBB5B710}"/>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02</a:t>
            </a:r>
          </a:p>
        </p:txBody>
      </p:sp>
      <p:sp>
        <p:nvSpPr>
          <p:cNvPr id="6" name="Rectangle: Rounded Corners 5">
            <a:extLst>
              <a:ext uri="{FF2B5EF4-FFF2-40B4-BE49-F238E27FC236}">
                <a16:creationId xmlns:a16="http://schemas.microsoft.com/office/drawing/2014/main" id="{18522EBF-9AC8-4753-9112-70E5A3ADC7B8}"/>
              </a:ext>
            </a:extLst>
          </p:cNvPr>
          <p:cNvSpPr>
            <a:spLocks noGrp="1"/>
          </p:cNvSpPr>
          <p:nvPr/>
        </p:nvSpPr>
        <p:spPr>
          <a:xfrm>
            <a:off x="762000" y="2609850"/>
            <a:ext cx="209550" cy="209550"/>
          </a:xfrm>
          <a:prstGeom prst="roundRect">
            <a:avLst>
              <a:gd name="adj" fmla="val 50000"/>
            </a:avLst>
          </a:prstGeom>
          <a:solidFill>
            <a:srgbClr val="DC2626"/>
          </a:solidFill>
          <a:ln w="9525">
            <a:solidFill>
              <a:srgbClr val="DC2626"/>
            </a:solidFill>
            <a:prstDash val="solid"/>
          </a:ln>
        </p:spPr>
        <p:txBody>
          <a:bodyPr/>
          <a:lstStyle/>
          <a:p>
            <a:endParaRPr lang="en-US"/>
          </a:p>
        </p:txBody>
      </p:sp>
      <p:sp>
        <p:nvSpPr>
          <p:cNvPr id="7" name="Rectangle 6">
            <a:extLst>
              <a:ext uri="{FF2B5EF4-FFF2-40B4-BE49-F238E27FC236}">
                <a16:creationId xmlns:a16="http://schemas.microsoft.com/office/drawing/2014/main" id="{13A448C7-A8C0-486A-8344-69A58CB80734}"/>
              </a:ext>
            </a:extLst>
          </p:cNvPr>
          <p:cNvSpPr>
            <a:spLocks noGrp="1"/>
          </p:cNvSpPr>
          <p:nvPr/>
        </p:nvSpPr>
        <p:spPr>
          <a:xfrm>
            <a:off x="1123950" y="2571750"/>
            <a:ext cx="914400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Operational pressure</a:t>
            </a:r>
          </a:p>
        </p:txBody>
      </p:sp>
      <p:sp>
        <p:nvSpPr>
          <p:cNvPr id="8" name="Rectangle 7">
            <a:extLst>
              <a:ext uri="{FF2B5EF4-FFF2-40B4-BE49-F238E27FC236}">
                <a16:creationId xmlns:a16="http://schemas.microsoft.com/office/drawing/2014/main" id="{A982BB7C-4D48-470E-AB94-947EA1F396D7}"/>
              </a:ext>
            </a:extLst>
          </p:cNvPr>
          <p:cNvSpPr>
            <a:spLocks noGrp="1"/>
          </p:cNvSpPr>
          <p:nvPr/>
        </p:nvSpPr>
        <p:spPr>
          <a:xfrm>
            <a:off x="1123950" y="2857500"/>
            <a:ext cx="914400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Critical alerts need fast triage, but raw logs, metrics, deploys, and impact data live in different places.</a:t>
            </a:r>
          </a:p>
        </p:txBody>
      </p:sp>
      <p:sp>
        <p:nvSpPr>
          <p:cNvPr id="9" name="Rectangle: Rounded Corners 8">
            <a:extLst>
              <a:ext uri="{FF2B5EF4-FFF2-40B4-BE49-F238E27FC236}">
                <a16:creationId xmlns:a16="http://schemas.microsoft.com/office/drawing/2014/main" id="{A36FE228-E32D-4D7E-87FA-0CDE441447CF}"/>
              </a:ext>
            </a:extLst>
          </p:cNvPr>
          <p:cNvSpPr>
            <a:spLocks noGrp="1"/>
          </p:cNvSpPr>
          <p:nvPr/>
        </p:nvSpPr>
        <p:spPr>
          <a:xfrm>
            <a:off x="762000" y="3295650"/>
            <a:ext cx="209550" cy="209550"/>
          </a:xfrm>
          <a:prstGeom prst="roundRect">
            <a:avLst>
              <a:gd name="adj" fmla="val 50000"/>
            </a:avLst>
          </a:prstGeom>
          <a:solidFill>
            <a:srgbClr val="2563EB"/>
          </a:solidFill>
          <a:ln w="9525">
            <a:solidFill>
              <a:srgbClr val="2563EB"/>
            </a:solidFill>
            <a:prstDash val="solid"/>
          </a:ln>
        </p:spPr>
        <p:txBody>
          <a:bodyPr/>
          <a:lstStyle/>
          <a:p>
            <a:endParaRPr lang="en-US"/>
          </a:p>
        </p:txBody>
      </p:sp>
      <p:sp>
        <p:nvSpPr>
          <p:cNvPr id="10" name="Rectangle 9">
            <a:extLst>
              <a:ext uri="{FF2B5EF4-FFF2-40B4-BE49-F238E27FC236}">
                <a16:creationId xmlns:a16="http://schemas.microsoft.com/office/drawing/2014/main" id="{67501916-C13D-434B-A43C-ACF7581802BC}"/>
              </a:ext>
            </a:extLst>
          </p:cNvPr>
          <p:cNvSpPr>
            <a:spLocks noGrp="1"/>
          </p:cNvSpPr>
          <p:nvPr/>
        </p:nvSpPr>
        <p:spPr>
          <a:xfrm>
            <a:off x="1123950" y="3257550"/>
            <a:ext cx="914400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Agentic investigation</a:t>
            </a:r>
          </a:p>
        </p:txBody>
      </p:sp>
      <p:sp>
        <p:nvSpPr>
          <p:cNvPr id="11" name="Rectangle 10">
            <a:extLst>
              <a:ext uri="{FF2B5EF4-FFF2-40B4-BE49-F238E27FC236}">
                <a16:creationId xmlns:a16="http://schemas.microsoft.com/office/drawing/2014/main" id="{0A070EF6-0B4C-4F79-BA85-944AA14F7C00}"/>
              </a:ext>
            </a:extLst>
          </p:cNvPr>
          <p:cNvSpPr>
            <a:spLocks noGrp="1"/>
          </p:cNvSpPr>
          <p:nvPr/>
        </p:nvSpPr>
        <p:spPr>
          <a:xfrm>
            <a:off x="1123950" y="3543300"/>
            <a:ext cx="914400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The backend coordinates specialized agents and returns a root-cause hypothesis with confidence and supporting evidence.</a:t>
            </a:r>
          </a:p>
        </p:txBody>
      </p:sp>
      <p:sp>
        <p:nvSpPr>
          <p:cNvPr id="12" name="Rectangle: Rounded Corners 11">
            <a:extLst>
              <a:ext uri="{FF2B5EF4-FFF2-40B4-BE49-F238E27FC236}">
                <a16:creationId xmlns:a16="http://schemas.microsoft.com/office/drawing/2014/main" id="{6C67082B-DD1B-474F-B94B-E8EEA83B2679}"/>
              </a:ext>
            </a:extLst>
          </p:cNvPr>
          <p:cNvSpPr>
            <a:spLocks noGrp="1"/>
          </p:cNvSpPr>
          <p:nvPr/>
        </p:nvSpPr>
        <p:spPr>
          <a:xfrm>
            <a:off x="762000" y="3981450"/>
            <a:ext cx="209550" cy="209550"/>
          </a:xfrm>
          <a:prstGeom prst="roundRect">
            <a:avLst>
              <a:gd name="adj" fmla="val 50000"/>
            </a:avLst>
          </a:prstGeom>
          <a:solidFill>
            <a:srgbClr val="16A34A"/>
          </a:solidFill>
          <a:ln w="9525">
            <a:solidFill>
              <a:srgbClr val="16A34A"/>
            </a:solidFill>
            <a:prstDash val="solid"/>
          </a:ln>
        </p:spPr>
        <p:txBody>
          <a:bodyPr/>
          <a:lstStyle/>
          <a:p>
            <a:endParaRPr lang="en-US"/>
          </a:p>
        </p:txBody>
      </p:sp>
      <p:sp>
        <p:nvSpPr>
          <p:cNvPr id="13" name="Rectangle 12">
            <a:extLst>
              <a:ext uri="{FF2B5EF4-FFF2-40B4-BE49-F238E27FC236}">
                <a16:creationId xmlns:a16="http://schemas.microsoft.com/office/drawing/2014/main" id="{9EFEB169-3987-4493-B65F-6CD37F168DDF}"/>
              </a:ext>
            </a:extLst>
          </p:cNvPr>
          <p:cNvSpPr>
            <a:spLocks noGrp="1"/>
          </p:cNvSpPr>
          <p:nvPr/>
        </p:nvSpPr>
        <p:spPr>
          <a:xfrm>
            <a:off x="1123950" y="3943350"/>
            <a:ext cx="914400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Human accountability</a:t>
            </a:r>
          </a:p>
        </p:txBody>
      </p:sp>
      <p:sp>
        <p:nvSpPr>
          <p:cNvPr id="14" name="Rectangle 13">
            <a:extLst>
              <a:ext uri="{FF2B5EF4-FFF2-40B4-BE49-F238E27FC236}">
                <a16:creationId xmlns:a16="http://schemas.microsoft.com/office/drawing/2014/main" id="{15A4900D-679C-4668-9917-8F48B01F8C14}"/>
              </a:ext>
            </a:extLst>
          </p:cNvPr>
          <p:cNvSpPr>
            <a:spLocks noGrp="1"/>
          </p:cNvSpPr>
          <p:nvPr/>
        </p:nvSpPr>
        <p:spPr>
          <a:xfrm>
            <a:off x="1123950" y="4229100"/>
            <a:ext cx="914400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Reviewers can accept, reject, ask for more data, override the RCA, and approve each remediation step.</a:t>
            </a:r>
          </a:p>
        </p:txBody>
      </p:sp>
      <p:sp>
        <p:nvSpPr>
          <p:cNvPr id="15" name="Rectangle: Rounded Corners 14">
            <a:extLst>
              <a:ext uri="{FF2B5EF4-FFF2-40B4-BE49-F238E27FC236}">
                <a16:creationId xmlns:a16="http://schemas.microsoft.com/office/drawing/2014/main" id="{DD4474C4-94B0-471F-8EF1-04557F35B1BA}"/>
              </a:ext>
            </a:extLst>
          </p:cNvPr>
          <p:cNvSpPr>
            <a:spLocks noGrp="1"/>
          </p:cNvSpPr>
          <p:nvPr/>
        </p:nvSpPr>
        <p:spPr>
          <a:xfrm>
            <a:off x="762000" y="4667250"/>
            <a:ext cx="209550" cy="209550"/>
          </a:xfrm>
          <a:prstGeom prst="roundRect">
            <a:avLst>
              <a:gd name="adj" fmla="val 50000"/>
            </a:avLst>
          </a:prstGeom>
          <a:solidFill>
            <a:srgbClr val="EA580C"/>
          </a:solidFill>
          <a:ln w="9525">
            <a:solidFill>
              <a:srgbClr val="EA580C"/>
            </a:solidFill>
            <a:prstDash val="solid"/>
          </a:ln>
        </p:spPr>
        <p:txBody>
          <a:bodyPr/>
          <a:lstStyle/>
          <a:p>
            <a:endParaRPr lang="en-US"/>
          </a:p>
        </p:txBody>
      </p:sp>
      <p:sp>
        <p:nvSpPr>
          <p:cNvPr id="16" name="Rectangle 15">
            <a:extLst>
              <a:ext uri="{FF2B5EF4-FFF2-40B4-BE49-F238E27FC236}">
                <a16:creationId xmlns:a16="http://schemas.microsoft.com/office/drawing/2014/main" id="{F5DA72C2-2BC7-4416-A423-433DCA27A09F}"/>
              </a:ext>
            </a:extLst>
          </p:cNvPr>
          <p:cNvSpPr>
            <a:spLocks noGrp="1"/>
          </p:cNvSpPr>
          <p:nvPr/>
        </p:nvSpPr>
        <p:spPr>
          <a:xfrm>
            <a:off x="1123950" y="4629150"/>
            <a:ext cx="914400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Traceable output</a:t>
            </a:r>
          </a:p>
        </p:txBody>
      </p:sp>
      <p:sp>
        <p:nvSpPr>
          <p:cNvPr id="17" name="Rectangle 16">
            <a:extLst>
              <a:ext uri="{FF2B5EF4-FFF2-40B4-BE49-F238E27FC236}">
                <a16:creationId xmlns:a16="http://schemas.microsoft.com/office/drawing/2014/main" id="{56D030E3-8EAE-424F-93E3-C055F5E3C52D}"/>
              </a:ext>
            </a:extLst>
          </p:cNvPr>
          <p:cNvSpPr>
            <a:spLocks noGrp="1"/>
          </p:cNvSpPr>
          <p:nvPr/>
        </p:nvSpPr>
        <p:spPr>
          <a:xfrm>
            <a:off x="1123950" y="4914900"/>
            <a:ext cx="914400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The system exposes agent spans, evidence references, review events, Q&amp;A, and postmortem export for audit and learning.</a:t>
            </a:r>
          </a:p>
        </p:txBody>
      </p:sp>
    </p:spTree>
    <p:extLst>
      <p:ext uri="{BB962C8B-B14F-4D97-AF65-F5344CB8AC3E}">
        <p14:creationId xmlns:p14="http://schemas.microsoft.com/office/powerpoint/2010/main" val="1660299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CBDE1ED-3342-4363-A678-59474C3E1091}"/>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SYSTEM VIEW</a:t>
            </a:r>
          </a:p>
        </p:txBody>
      </p:sp>
      <p:sp>
        <p:nvSpPr>
          <p:cNvPr id="2" name="Rectangle 1">
            <a:extLst>
              <a:ext uri="{FF2B5EF4-FFF2-40B4-BE49-F238E27FC236}">
                <a16:creationId xmlns:a16="http://schemas.microsoft.com/office/drawing/2014/main" id="{11173BC4-5686-4AD5-B614-4157F3F080D2}"/>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The frontend is a mobile-first command surface over a FastAPI agent backend.</a:t>
            </a:r>
          </a:p>
        </p:txBody>
      </p:sp>
      <p:sp>
        <p:nvSpPr>
          <p:cNvPr id="3" name="Rectangle 2">
            <a:extLst>
              <a:ext uri="{FF2B5EF4-FFF2-40B4-BE49-F238E27FC236}">
                <a16:creationId xmlns:a16="http://schemas.microsoft.com/office/drawing/2014/main" id="{3155B42C-6878-43CB-9BDF-13F0347BD3F5}"/>
              </a:ext>
            </a:extLst>
          </p:cNvPr>
          <p:cNvSpPr>
            <a:spLocks noGrp="1"/>
          </p:cNvSpPr>
          <p:nvPr/>
        </p:nvSpPr>
        <p:spPr>
          <a:xfrm>
            <a:off x="400050" y="1780413"/>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dirty="0">
                <a:solidFill>
                  <a:srgbClr val="64748B"/>
                </a:solidFill>
                <a:latin typeface="Aptos"/>
                <a:ea typeface="Aptos"/>
                <a:cs typeface="Aptos"/>
              </a:rPr>
              <a:t>The codebase exposes the complete UI contract: incident launch, polling, RCA review, remediation decisions, trace export, Q&amp;A, and postmortem download.</a:t>
            </a:r>
          </a:p>
        </p:txBody>
      </p:sp>
      <p:sp>
        <p:nvSpPr>
          <p:cNvPr id="4" name="Rectangle 3">
            <a:extLst>
              <a:ext uri="{FF2B5EF4-FFF2-40B4-BE49-F238E27FC236}">
                <a16:creationId xmlns:a16="http://schemas.microsoft.com/office/drawing/2014/main" id="{AA1C8A64-0B7A-46E9-BD2F-3870E545B0B1}"/>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69F37903-1DE7-4670-9646-DB972882F36C}"/>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03</a:t>
            </a:r>
          </a:p>
        </p:txBody>
      </p:sp>
      <p:sp>
        <p:nvSpPr>
          <p:cNvPr id="6" name="Rectangle: Rounded Corners 5">
            <a:extLst>
              <a:ext uri="{FF2B5EF4-FFF2-40B4-BE49-F238E27FC236}">
                <a16:creationId xmlns:a16="http://schemas.microsoft.com/office/drawing/2014/main" id="{88C26D33-24E6-475C-8375-10DB2B717765}"/>
              </a:ext>
            </a:extLst>
          </p:cNvPr>
          <p:cNvSpPr>
            <a:spLocks noGrp="1"/>
          </p:cNvSpPr>
          <p:nvPr/>
        </p:nvSpPr>
        <p:spPr>
          <a:xfrm>
            <a:off x="685800" y="2647950"/>
            <a:ext cx="2381250" cy="2381250"/>
          </a:xfrm>
          <a:prstGeom prst="roundRect">
            <a:avLst>
              <a:gd name="adj" fmla="val 2400"/>
            </a:avLst>
          </a:prstGeom>
          <a:solidFill>
            <a:srgbClr val="F1F5F9"/>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1131B239-03C4-47B4-BD32-B3431965442C}"/>
              </a:ext>
            </a:extLst>
          </p:cNvPr>
          <p:cNvSpPr>
            <a:spLocks noGrp="1"/>
          </p:cNvSpPr>
          <p:nvPr/>
        </p:nvSpPr>
        <p:spPr>
          <a:xfrm>
            <a:off x="857250" y="2895600"/>
            <a:ext cx="2000250" cy="571500"/>
          </a:xfrm>
          <a:prstGeom prst="rect">
            <a:avLst/>
          </a:prstGeom>
          <a:noFill/>
          <a:ln w="0">
            <a:noFill/>
            <a:prstDash val="solid"/>
          </a:ln>
        </p:spPr>
        <p:txBody>
          <a:bodyPr anchor="t"/>
          <a:lstStyle/>
          <a:p>
            <a:pPr algn="l">
              <a:defRPr sz="2100" b="1">
                <a:solidFill>
                  <a:srgbClr val="2563EB"/>
                </a:solidFill>
                <a:latin typeface="Aptos"/>
                <a:ea typeface="Aptos"/>
                <a:cs typeface="Aptos"/>
              </a:defRPr>
            </a:pPr>
            <a:r>
              <a:rPr sz="2100" b="1">
                <a:solidFill>
                  <a:srgbClr val="2563EB"/>
                </a:solidFill>
                <a:latin typeface="Aptos"/>
                <a:ea typeface="Aptos"/>
                <a:cs typeface="Aptos"/>
              </a:rPr>
              <a:t>Next.js PWA</a:t>
            </a:r>
          </a:p>
        </p:txBody>
      </p:sp>
      <p:sp>
        <p:nvSpPr>
          <p:cNvPr id="8" name="Rectangle 7">
            <a:extLst>
              <a:ext uri="{FF2B5EF4-FFF2-40B4-BE49-F238E27FC236}">
                <a16:creationId xmlns:a16="http://schemas.microsoft.com/office/drawing/2014/main" id="{77D95DE1-D917-47FE-85AC-BE9968F21466}"/>
              </a:ext>
            </a:extLst>
          </p:cNvPr>
          <p:cNvSpPr>
            <a:spLocks noGrp="1"/>
          </p:cNvSpPr>
          <p:nvPr/>
        </p:nvSpPr>
        <p:spPr>
          <a:xfrm>
            <a:off x="857250" y="3638550"/>
            <a:ext cx="2000250" cy="952500"/>
          </a:xfrm>
          <a:prstGeom prst="rect">
            <a:avLst/>
          </a:prstGeom>
          <a:noFill/>
          <a:ln w="0">
            <a:noFill/>
            <a:prstDash val="solid"/>
          </a:ln>
        </p:spPr>
        <p:txBody>
          <a:bodyPr anchor="t"/>
          <a:lstStyle/>
          <a:p>
            <a:pPr algn="l">
              <a:defRPr sz="1350" b="0">
                <a:solidFill>
                  <a:srgbClr val="0F172A"/>
                </a:solidFill>
                <a:latin typeface="Aptos"/>
                <a:ea typeface="Aptos"/>
                <a:cs typeface="Aptos"/>
              </a:defRPr>
            </a:pPr>
            <a:r>
              <a:rPr sz="1350" b="0">
                <a:solidFill>
                  <a:srgbClr val="0F172A"/>
                </a:solidFill>
                <a:latin typeface="Aptos"/>
                <a:ea typeface="Aptos"/>
                <a:cs typeface="Aptos"/>
              </a:rPr>
              <a:t>Dashboard, incident detail, mobile nav, service worker</a:t>
            </a:r>
          </a:p>
        </p:txBody>
      </p:sp>
      <p:sp>
        <p:nvSpPr>
          <p:cNvPr id="9" name="Rectangle 8">
            <a:extLst>
              <a:ext uri="{FF2B5EF4-FFF2-40B4-BE49-F238E27FC236}">
                <a16:creationId xmlns:a16="http://schemas.microsoft.com/office/drawing/2014/main" id="{997732DC-0D5B-4C2F-8DAB-FDF9950B61BE}"/>
              </a:ext>
            </a:extLst>
          </p:cNvPr>
          <p:cNvSpPr>
            <a:spLocks noGrp="1"/>
          </p:cNvSpPr>
          <p:nvPr/>
        </p:nvSpPr>
        <p:spPr>
          <a:xfrm>
            <a:off x="3143250" y="3571875"/>
            <a:ext cx="400050" cy="400050"/>
          </a:xfrm>
          <a:prstGeom prst="rect">
            <a:avLst/>
          </a:prstGeom>
          <a:noFill/>
          <a:ln w="0">
            <a:noFill/>
            <a:prstDash val="solid"/>
          </a:ln>
        </p:spPr>
        <p:txBody>
          <a:bodyPr anchor="t"/>
          <a:lstStyle/>
          <a:p>
            <a:pPr algn="ctr">
              <a:defRPr sz="2700" b="1">
                <a:solidFill>
                  <a:srgbClr val="64748B"/>
                </a:solidFill>
                <a:latin typeface="Aptos"/>
                <a:ea typeface="Aptos"/>
                <a:cs typeface="Aptos"/>
              </a:defRPr>
            </a:pPr>
            <a:r>
              <a:rPr sz="2700" b="1">
                <a:solidFill>
                  <a:srgbClr val="64748B"/>
                </a:solidFill>
                <a:latin typeface="Aptos"/>
                <a:ea typeface="Aptos"/>
                <a:cs typeface="Aptos"/>
              </a:rPr>
              <a:t>→</a:t>
            </a:r>
          </a:p>
        </p:txBody>
      </p:sp>
      <p:sp>
        <p:nvSpPr>
          <p:cNvPr id="10" name="Rectangle: Rounded Corners 9">
            <a:extLst>
              <a:ext uri="{FF2B5EF4-FFF2-40B4-BE49-F238E27FC236}">
                <a16:creationId xmlns:a16="http://schemas.microsoft.com/office/drawing/2014/main" id="{0B087996-D125-4E39-9281-BE4363B6F539}"/>
              </a:ext>
            </a:extLst>
          </p:cNvPr>
          <p:cNvSpPr>
            <a:spLocks noGrp="1"/>
          </p:cNvSpPr>
          <p:nvPr/>
        </p:nvSpPr>
        <p:spPr>
          <a:xfrm>
            <a:off x="3486150" y="2647950"/>
            <a:ext cx="2381250" cy="2381250"/>
          </a:xfrm>
          <a:prstGeom prst="roundRect">
            <a:avLst>
              <a:gd name="adj" fmla="val 2400"/>
            </a:avLst>
          </a:prstGeom>
          <a:solidFill>
            <a:srgbClr val="F8FAFC"/>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8CF89241-583C-49D9-AE37-68BC40C64F5D}"/>
              </a:ext>
            </a:extLst>
          </p:cNvPr>
          <p:cNvSpPr>
            <a:spLocks noGrp="1"/>
          </p:cNvSpPr>
          <p:nvPr/>
        </p:nvSpPr>
        <p:spPr>
          <a:xfrm>
            <a:off x="3657600" y="2895600"/>
            <a:ext cx="2000250" cy="571500"/>
          </a:xfrm>
          <a:prstGeom prst="rect">
            <a:avLst/>
          </a:prstGeom>
          <a:noFill/>
          <a:ln w="0">
            <a:noFill/>
            <a:prstDash val="solid"/>
          </a:ln>
        </p:spPr>
        <p:txBody>
          <a:bodyPr anchor="t"/>
          <a:lstStyle/>
          <a:p>
            <a:pPr algn="l">
              <a:defRPr sz="2100" b="1">
                <a:solidFill>
                  <a:srgbClr val="0891B2"/>
                </a:solidFill>
                <a:latin typeface="Aptos"/>
                <a:ea typeface="Aptos"/>
                <a:cs typeface="Aptos"/>
              </a:defRPr>
            </a:pPr>
            <a:r>
              <a:rPr sz="2100" b="1">
                <a:solidFill>
                  <a:srgbClr val="0891B2"/>
                </a:solidFill>
                <a:latin typeface="Aptos"/>
                <a:ea typeface="Aptos"/>
                <a:cs typeface="Aptos"/>
              </a:rPr>
              <a:t>API contract</a:t>
            </a:r>
          </a:p>
        </p:txBody>
      </p:sp>
      <p:sp>
        <p:nvSpPr>
          <p:cNvPr id="12" name="Rectangle 11">
            <a:extLst>
              <a:ext uri="{FF2B5EF4-FFF2-40B4-BE49-F238E27FC236}">
                <a16:creationId xmlns:a16="http://schemas.microsoft.com/office/drawing/2014/main" id="{CB11A232-0675-45D2-A117-277B205AF2A3}"/>
              </a:ext>
            </a:extLst>
          </p:cNvPr>
          <p:cNvSpPr>
            <a:spLocks noGrp="1"/>
          </p:cNvSpPr>
          <p:nvPr/>
        </p:nvSpPr>
        <p:spPr>
          <a:xfrm>
            <a:off x="3657600" y="3638550"/>
            <a:ext cx="2000250" cy="952500"/>
          </a:xfrm>
          <a:prstGeom prst="rect">
            <a:avLst/>
          </a:prstGeom>
          <a:noFill/>
          <a:ln w="0">
            <a:noFill/>
            <a:prstDash val="solid"/>
          </a:ln>
        </p:spPr>
        <p:txBody>
          <a:bodyPr anchor="t"/>
          <a:lstStyle/>
          <a:p>
            <a:pPr algn="l">
              <a:defRPr sz="1350" b="0">
                <a:solidFill>
                  <a:srgbClr val="0F172A"/>
                </a:solidFill>
                <a:latin typeface="Aptos"/>
                <a:ea typeface="Aptos"/>
                <a:cs typeface="Aptos"/>
              </a:defRPr>
            </a:pPr>
            <a:r>
              <a:rPr sz="1350" b="0">
                <a:solidFill>
                  <a:srgbClr val="0F172A"/>
                </a:solidFill>
                <a:latin typeface="Aptos"/>
                <a:ea typeface="Aptos"/>
                <a:cs typeface="Aptos"/>
              </a:rPr>
              <a:t>Typed client calls /api/incidents and review endpoints</a:t>
            </a:r>
          </a:p>
        </p:txBody>
      </p:sp>
      <p:sp>
        <p:nvSpPr>
          <p:cNvPr id="13" name="Rectangle 12">
            <a:extLst>
              <a:ext uri="{FF2B5EF4-FFF2-40B4-BE49-F238E27FC236}">
                <a16:creationId xmlns:a16="http://schemas.microsoft.com/office/drawing/2014/main" id="{663D7795-7AEC-4232-8776-ADEAD7D5156E}"/>
              </a:ext>
            </a:extLst>
          </p:cNvPr>
          <p:cNvSpPr>
            <a:spLocks noGrp="1"/>
          </p:cNvSpPr>
          <p:nvPr/>
        </p:nvSpPr>
        <p:spPr>
          <a:xfrm>
            <a:off x="5943600" y="3571875"/>
            <a:ext cx="400050" cy="400050"/>
          </a:xfrm>
          <a:prstGeom prst="rect">
            <a:avLst/>
          </a:prstGeom>
          <a:noFill/>
          <a:ln w="0">
            <a:noFill/>
            <a:prstDash val="solid"/>
          </a:ln>
        </p:spPr>
        <p:txBody>
          <a:bodyPr anchor="t"/>
          <a:lstStyle/>
          <a:p>
            <a:pPr algn="ctr">
              <a:defRPr sz="2700" b="1">
                <a:solidFill>
                  <a:srgbClr val="64748B"/>
                </a:solidFill>
                <a:latin typeface="Aptos"/>
                <a:ea typeface="Aptos"/>
                <a:cs typeface="Aptos"/>
              </a:defRPr>
            </a:pPr>
            <a:r>
              <a:rPr sz="2700" b="1">
                <a:solidFill>
                  <a:srgbClr val="64748B"/>
                </a:solidFill>
                <a:latin typeface="Aptos"/>
                <a:ea typeface="Aptos"/>
                <a:cs typeface="Aptos"/>
              </a:rPr>
              <a:t>→</a:t>
            </a:r>
          </a:p>
        </p:txBody>
      </p:sp>
      <p:sp>
        <p:nvSpPr>
          <p:cNvPr id="14" name="Rectangle: Rounded Corners 13">
            <a:extLst>
              <a:ext uri="{FF2B5EF4-FFF2-40B4-BE49-F238E27FC236}">
                <a16:creationId xmlns:a16="http://schemas.microsoft.com/office/drawing/2014/main" id="{7928E10E-07E6-411B-8EB7-F77149BC8AE6}"/>
              </a:ext>
            </a:extLst>
          </p:cNvPr>
          <p:cNvSpPr>
            <a:spLocks noGrp="1"/>
          </p:cNvSpPr>
          <p:nvPr/>
        </p:nvSpPr>
        <p:spPr>
          <a:xfrm>
            <a:off x="6286500" y="2647950"/>
            <a:ext cx="2381250" cy="2381250"/>
          </a:xfrm>
          <a:prstGeom prst="roundRect">
            <a:avLst>
              <a:gd name="adj" fmla="val 2400"/>
            </a:avLst>
          </a:prstGeom>
          <a:solidFill>
            <a:srgbClr val="F1F5F9"/>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A24448C4-28E2-4886-B3C4-B26BE45AB672}"/>
              </a:ext>
            </a:extLst>
          </p:cNvPr>
          <p:cNvSpPr>
            <a:spLocks noGrp="1"/>
          </p:cNvSpPr>
          <p:nvPr/>
        </p:nvSpPr>
        <p:spPr>
          <a:xfrm>
            <a:off x="6457950" y="2895600"/>
            <a:ext cx="2000250" cy="571500"/>
          </a:xfrm>
          <a:prstGeom prst="rect">
            <a:avLst/>
          </a:prstGeom>
          <a:noFill/>
          <a:ln w="0">
            <a:noFill/>
            <a:prstDash val="solid"/>
          </a:ln>
        </p:spPr>
        <p:txBody>
          <a:bodyPr anchor="t"/>
          <a:lstStyle/>
          <a:p>
            <a:pPr algn="l">
              <a:defRPr sz="2100" b="1">
                <a:solidFill>
                  <a:srgbClr val="EA580C"/>
                </a:solidFill>
                <a:latin typeface="Aptos"/>
                <a:ea typeface="Aptos"/>
                <a:cs typeface="Aptos"/>
              </a:defRPr>
            </a:pPr>
            <a:r>
              <a:rPr sz="2100" b="1">
                <a:solidFill>
                  <a:srgbClr val="EA580C"/>
                </a:solidFill>
                <a:latin typeface="Aptos"/>
                <a:ea typeface="Aptos"/>
                <a:cs typeface="Aptos"/>
              </a:rPr>
              <a:t>Agent orchestration</a:t>
            </a:r>
          </a:p>
        </p:txBody>
      </p:sp>
      <p:sp>
        <p:nvSpPr>
          <p:cNvPr id="16" name="Rectangle 15">
            <a:extLst>
              <a:ext uri="{FF2B5EF4-FFF2-40B4-BE49-F238E27FC236}">
                <a16:creationId xmlns:a16="http://schemas.microsoft.com/office/drawing/2014/main" id="{311B033F-7F9D-4506-BB55-8A0F1D48332B}"/>
              </a:ext>
            </a:extLst>
          </p:cNvPr>
          <p:cNvSpPr>
            <a:spLocks noGrp="1"/>
          </p:cNvSpPr>
          <p:nvPr/>
        </p:nvSpPr>
        <p:spPr>
          <a:xfrm>
            <a:off x="6457950" y="3638550"/>
            <a:ext cx="2000250" cy="952500"/>
          </a:xfrm>
          <a:prstGeom prst="rect">
            <a:avLst/>
          </a:prstGeom>
          <a:noFill/>
          <a:ln w="0">
            <a:noFill/>
            <a:prstDash val="solid"/>
          </a:ln>
        </p:spPr>
        <p:txBody>
          <a:bodyPr anchor="t"/>
          <a:lstStyle/>
          <a:p>
            <a:pPr algn="l">
              <a:defRPr sz="1350" b="0">
                <a:solidFill>
                  <a:srgbClr val="0F172A"/>
                </a:solidFill>
                <a:latin typeface="Aptos"/>
                <a:ea typeface="Aptos"/>
                <a:cs typeface="Aptos"/>
              </a:defRPr>
            </a:pPr>
            <a:r>
              <a:rPr sz="1350" b="0">
                <a:solidFill>
                  <a:srgbClr val="0F172A"/>
                </a:solidFill>
                <a:latin typeface="Aptos"/>
                <a:ea typeface="Aptos"/>
                <a:cs typeface="Aptos"/>
              </a:rPr>
              <a:t>Investigation spans, compact contexts, quality gates</a:t>
            </a:r>
          </a:p>
        </p:txBody>
      </p:sp>
      <p:sp>
        <p:nvSpPr>
          <p:cNvPr id="17" name="Rectangle 16">
            <a:extLst>
              <a:ext uri="{FF2B5EF4-FFF2-40B4-BE49-F238E27FC236}">
                <a16:creationId xmlns:a16="http://schemas.microsoft.com/office/drawing/2014/main" id="{B1653C88-7CD8-4F76-838A-48330A272CA4}"/>
              </a:ext>
            </a:extLst>
          </p:cNvPr>
          <p:cNvSpPr>
            <a:spLocks noGrp="1"/>
          </p:cNvSpPr>
          <p:nvPr/>
        </p:nvSpPr>
        <p:spPr>
          <a:xfrm>
            <a:off x="8743950" y="3571875"/>
            <a:ext cx="400050" cy="400050"/>
          </a:xfrm>
          <a:prstGeom prst="rect">
            <a:avLst/>
          </a:prstGeom>
          <a:noFill/>
          <a:ln w="0">
            <a:noFill/>
            <a:prstDash val="solid"/>
          </a:ln>
        </p:spPr>
        <p:txBody>
          <a:bodyPr anchor="t"/>
          <a:lstStyle/>
          <a:p>
            <a:pPr algn="ctr">
              <a:defRPr sz="2700" b="1">
                <a:solidFill>
                  <a:srgbClr val="64748B"/>
                </a:solidFill>
                <a:latin typeface="Aptos"/>
                <a:ea typeface="Aptos"/>
                <a:cs typeface="Aptos"/>
              </a:defRPr>
            </a:pPr>
            <a:r>
              <a:rPr sz="2700" b="1">
                <a:solidFill>
                  <a:srgbClr val="64748B"/>
                </a:solidFill>
                <a:latin typeface="Aptos"/>
                <a:ea typeface="Aptos"/>
                <a:cs typeface="Aptos"/>
              </a:rPr>
              <a:t>→</a:t>
            </a:r>
          </a:p>
        </p:txBody>
      </p:sp>
      <p:sp>
        <p:nvSpPr>
          <p:cNvPr id="18" name="Rectangle: Rounded Corners 17">
            <a:extLst>
              <a:ext uri="{FF2B5EF4-FFF2-40B4-BE49-F238E27FC236}">
                <a16:creationId xmlns:a16="http://schemas.microsoft.com/office/drawing/2014/main" id="{4507BA8E-B2AB-4332-97B1-F38A42999D69}"/>
              </a:ext>
            </a:extLst>
          </p:cNvPr>
          <p:cNvSpPr>
            <a:spLocks noGrp="1"/>
          </p:cNvSpPr>
          <p:nvPr/>
        </p:nvSpPr>
        <p:spPr>
          <a:xfrm>
            <a:off x="9086850" y="2647950"/>
            <a:ext cx="2381250" cy="2381250"/>
          </a:xfrm>
          <a:prstGeom prst="roundRect">
            <a:avLst>
              <a:gd name="adj" fmla="val 2400"/>
            </a:avLst>
          </a:prstGeom>
          <a:solidFill>
            <a:srgbClr val="F8FAFC"/>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CE5E7A56-EF99-44A4-B4EE-CE43E129009C}"/>
              </a:ext>
            </a:extLst>
          </p:cNvPr>
          <p:cNvSpPr>
            <a:spLocks noGrp="1"/>
          </p:cNvSpPr>
          <p:nvPr/>
        </p:nvSpPr>
        <p:spPr>
          <a:xfrm>
            <a:off x="9258300" y="2895600"/>
            <a:ext cx="2000250" cy="571500"/>
          </a:xfrm>
          <a:prstGeom prst="rect">
            <a:avLst/>
          </a:prstGeom>
          <a:noFill/>
          <a:ln w="0">
            <a:noFill/>
            <a:prstDash val="solid"/>
          </a:ln>
        </p:spPr>
        <p:txBody>
          <a:bodyPr anchor="t"/>
          <a:lstStyle/>
          <a:p>
            <a:pPr algn="l">
              <a:defRPr sz="2100" b="1">
                <a:solidFill>
                  <a:srgbClr val="16A34A"/>
                </a:solidFill>
                <a:latin typeface="Aptos"/>
                <a:ea typeface="Aptos"/>
                <a:cs typeface="Aptos"/>
              </a:defRPr>
            </a:pPr>
            <a:r>
              <a:rPr sz="2100" b="1">
                <a:solidFill>
                  <a:srgbClr val="16A34A"/>
                </a:solidFill>
                <a:latin typeface="Aptos"/>
                <a:ea typeface="Aptos"/>
                <a:cs typeface="Aptos"/>
              </a:rPr>
              <a:t>Evidence and governance</a:t>
            </a:r>
          </a:p>
        </p:txBody>
      </p:sp>
      <p:sp>
        <p:nvSpPr>
          <p:cNvPr id="20" name="Rectangle 19">
            <a:extLst>
              <a:ext uri="{FF2B5EF4-FFF2-40B4-BE49-F238E27FC236}">
                <a16:creationId xmlns:a16="http://schemas.microsoft.com/office/drawing/2014/main" id="{0336C356-4567-4B37-85B4-064BE8B33274}"/>
              </a:ext>
            </a:extLst>
          </p:cNvPr>
          <p:cNvSpPr>
            <a:spLocks noGrp="1"/>
          </p:cNvSpPr>
          <p:nvPr/>
        </p:nvSpPr>
        <p:spPr>
          <a:xfrm>
            <a:off x="9258300" y="3638550"/>
            <a:ext cx="2000250" cy="952500"/>
          </a:xfrm>
          <a:prstGeom prst="rect">
            <a:avLst/>
          </a:prstGeom>
          <a:noFill/>
          <a:ln w="0">
            <a:noFill/>
            <a:prstDash val="solid"/>
          </a:ln>
        </p:spPr>
        <p:txBody>
          <a:bodyPr anchor="t"/>
          <a:lstStyle/>
          <a:p>
            <a:pPr algn="l">
              <a:defRPr sz="1350" b="0">
                <a:solidFill>
                  <a:srgbClr val="0F172A"/>
                </a:solidFill>
                <a:latin typeface="Aptos"/>
                <a:ea typeface="Aptos"/>
                <a:cs typeface="Aptos"/>
              </a:defRPr>
            </a:pPr>
            <a:r>
              <a:rPr sz="1350" b="0">
                <a:solidFill>
                  <a:srgbClr val="0F172A"/>
                </a:solidFill>
                <a:latin typeface="Aptos"/>
                <a:ea typeface="Aptos"/>
                <a:cs typeface="Aptos"/>
              </a:rPr>
              <a:t>Catalog, review events, remediation decisions, postmortem</a:t>
            </a:r>
          </a:p>
        </p:txBody>
      </p:sp>
      <p:sp>
        <p:nvSpPr>
          <p:cNvPr id="21" name="Rectangle 20">
            <a:extLst>
              <a:ext uri="{FF2B5EF4-FFF2-40B4-BE49-F238E27FC236}">
                <a16:creationId xmlns:a16="http://schemas.microsoft.com/office/drawing/2014/main" id="{5F6B2F7F-7F4A-4BCF-B864-ADA4C8209C96}"/>
              </a:ext>
            </a:extLst>
          </p:cNvPr>
          <p:cNvSpPr>
            <a:spLocks noGrp="1"/>
          </p:cNvSpPr>
          <p:nvPr/>
        </p:nvSpPr>
        <p:spPr>
          <a:xfrm>
            <a:off x="714375" y="5619750"/>
            <a:ext cx="9525000" cy="285750"/>
          </a:xfrm>
          <a:prstGeom prst="rect">
            <a:avLst/>
          </a:prstGeom>
          <a:noFill/>
          <a:ln w="0">
            <a:noFill/>
            <a:prstDash val="solid"/>
          </a:ln>
        </p:spPr>
        <p:txBody>
          <a:bodyPr anchor="t"/>
          <a:lstStyle/>
          <a:p>
            <a:pPr algn="l">
              <a:defRPr sz="1200" b="0">
                <a:solidFill>
                  <a:srgbClr val="64748B"/>
                </a:solidFill>
                <a:latin typeface="Aptos"/>
                <a:ea typeface="Aptos"/>
                <a:cs typeface="Aptos"/>
              </a:defRPr>
            </a:pPr>
            <a:r>
              <a:rPr sz="1200" b="0">
                <a:solidFill>
                  <a:srgbClr val="64748B"/>
                </a:solidFill>
                <a:latin typeface="Aptos"/>
                <a:ea typeface="Aptos"/>
                <a:cs typeface="Aptos"/>
              </a:rPr>
              <a:t>Implementation anchors: `lib/api.ts`, `lib/types.ts`, `components/Dashboard.tsx`, `components/IncidentDetail.tsx`</a:t>
            </a:r>
          </a:p>
        </p:txBody>
      </p:sp>
    </p:spTree>
    <p:extLst>
      <p:ext uri="{BB962C8B-B14F-4D97-AF65-F5344CB8AC3E}">
        <p14:creationId xmlns:p14="http://schemas.microsoft.com/office/powerpoint/2010/main" val="1057654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E350780-28DF-4D1E-B0C6-2491B575A03F}"/>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END-TO-END FLOW</a:t>
            </a:r>
          </a:p>
        </p:txBody>
      </p:sp>
      <p:sp>
        <p:nvSpPr>
          <p:cNvPr id="2" name="Rectangle 1">
            <a:extLst>
              <a:ext uri="{FF2B5EF4-FFF2-40B4-BE49-F238E27FC236}">
                <a16:creationId xmlns:a16="http://schemas.microsoft.com/office/drawing/2014/main" id="{06722795-26C0-46C7-A9D8-637C6F6E0A66}"/>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A demo incident moves through five visible phases.</a:t>
            </a:r>
          </a:p>
        </p:txBody>
      </p:sp>
      <p:sp>
        <p:nvSpPr>
          <p:cNvPr id="3" name="Rectangle 2">
            <a:extLst>
              <a:ext uri="{FF2B5EF4-FFF2-40B4-BE49-F238E27FC236}">
                <a16:creationId xmlns:a16="http://schemas.microsoft.com/office/drawing/2014/main" id="{49DAC189-4E1A-4AE8-8164-06F74E6775E0}"/>
              </a:ext>
            </a:extLst>
          </p:cNvPr>
          <p:cNvSpPr>
            <a:spLocks noGrp="1"/>
          </p:cNvSpPr>
          <p:nvPr/>
        </p:nvSpPr>
        <p:spPr>
          <a:xfrm>
            <a:off x="400050" y="1790700"/>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dirty="0">
                <a:solidFill>
                  <a:srgbClr val="64748B"/>
                </a:solidFill>
                <a:latin typeface="Aptos"/>
                <a:ea typeface="Aptos"/>
                <a:cs typeface="Aptos"/>
              </a:rPr>
              <a:t>Each phase has an operator action, agent-side work, and a traceable artifact returned to the command center.</a:t>
            </a:r>
          </a:p>
        </p:txBody>
      </p:sp>
      <p:sp>
        <p:nvSpPr>
          <p:cNvPr id="4" name="Rectangle 3">
            <a:extLst>
              <a:ext uri="{FF2B5EF4-FFF2-40B4-BE49-F238E27FC236}">
                <a16:creationId xmlns:a16="http://schemas.microsoft.com/office/drawing/2014/main" id="{AE9817B9-6C32-4DDC-BE62-BD68E2271484}"/>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807A0AEE-1BB7-4722-B1C6-FD8B3E3D631A}"/>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04</a:t>
            </a:r>
          </a:p>
        </p:txBody>
      </p:sp>
      <p:sp>
        <p:nvSpPr>
          <p:cNvPr id="6" name="Rectangle: Rounded Corners 5">
            <a:extLst>
              <a:ext uri="{FF2B5EF4-FFF2-40B4-BE49-F238E27FC236}">
                <a16:creationId xmlns:a16="http://schemas.microsoft.com/office/drawing/2014/main" id="{EBCBA292-F015-434E-AD38-8733D111A424}"/>
              </a:ext>
            </a:extLst>
          </p:cNvPr>
          <p:cNvSpPr>
            <a:spLocks noGrp="1"/>
          </p:cNvSpPr>
          <p:nvPr/>
        </p:nvSpPr>
        <p:spPr>
          <a:xfrm>
            <a:off x="476250" y="2714625"/>
            <a:ext cx="1943100" cy="2534030"/>
          </a:xfrm>
          <a:prstGeom prst="roundRect">
            <a:avLst>
              <a:gd name="adj" fmla="val 2941"/>
            </a:avLst>
          </a:prstGeom>
          <a:solidFill>
            <a:srgbClr val="FFFFFF"/>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3279EF20-75AC-4AC7-9574-56492444DF89}"/>
              </a:ext>
            </a:extLst>
          </p:cNvPr>
          <p:cNvSpPr>
            <a:spLocks noGrp="1"/>
          </p:cNvSpPr>
          <p:nvPr/>
        </p:nvSpPr>
        <p:spPr>
          <a:xfrm>
            <a:off x="666750" y="2886075"/>
            <a:ext cx="533400" cy="400050"/>
          </a:xfrm>
          <a:prstGeom prst="rect">
            <a:avLst/>
          </a:prstGeom>
          <a:noFill/>
          <a:ln w="0">
            <a:noFill/>
            <a:prstDash val="solid"/>
          </a:ln>
        </p:spPr>
        <p:txBody>
          <a:bodyPr anchor="t"/>
          <a:lstStyle/>
          <a:p>
            <a:pPr algn="l">
              <a:defRPr sz="2250" b="1">
                <a:solidFill>
                  <a:srgbClr val="2563EB"/>
                </a:solidFill>
                <a:latin typeface="Aptos"/>
                <a:ea typeface="Aptos"/>
                <a:cs typeface="Aptos"/>
              </a:defRPr>
            </a:pPr>
            <a:r>
              <a:rPr sz="2250" b="1">
                <a:solidFill>
                  <a:srgbClr val="2563EB"/>
                </a:solidFill>
                <a:latin typeface="Aptos"/>
                <a:ea typeface="Aptos"/>
                <a:cs typeface="Aptos"/>
              </a:rPr>
              <a:t>01</a:t>
            </a:r>
          </a:p>
        </p:txBody>
      </p:sp>
      <p:sp>
        <p:nvSpPr>
          <p:cNvPr id="8" name="Rectangle 7">
            <a:extLst>
              <a:ext uri="{FF2B5EF4-FFF2-40B4-BE49-F238E27FC236}">
                <a16:creationId xmlns:a16="http://schemas.microsoft.com/office/drawing/2014/main" id="{A8441FFD-6615-49B5-A829-F0BA6533A2C8}"/>
              </a:ext>
            </a:extLst>
          </p:cNvPr>
          <p:cNvSpPr>
            <a:spLocks noGrp="1"/>
          </p:cNvSpPr>
          <p:nvPr/>
        </p:nvSpPr>
        <p:spPr>
          <a:xfrm>
            <a:off x="666750" y="3438525"/>
            <a:ext cx="1562100" cy="571500"/>
          </a:xfrm>
          <a:prstGeom prst="rect">
            <a:avLst/>
          </a:prstGeom>
          <a:noFill/>
          <a:ln w="0">
            <a:noFill/>
            <a:prstDash val="solid"/>
          </a:ln>
        </p:spPr>
        <p:txBody>
          <a:bodyPr anchor="t"/>
          <a:lstStyle/>
          <a:p>
            <a:pPr algn="l">
              <a:defRPr sz="2025" b="1">
                <a:solidFill>
                  <a:srgbClr val="0F172A"/>
                </a:solidFill>
                <a:latin typeface="Aptos"/>
                <a:ea typeface="Aptos"/>
                <a:cs typeface="Aptos"/>
              </a:defRPr>
            </a:pPr>
            <a:r>
              <a:rPr sz="2025" b="1">
                <a:solidFill>
                  <a:srgbClr val="0F172A"/>
                </a:solidFill>
                <a:latin typeface="Aptos"/>
                <a:ea typeface="Aptos"/>
                <a:cs typeface="Aptos"/>
              </a:rPr>
              <a:t>Launch</a:t>
            </a:r>
          </a:p>
        </p:txBody>
      </p:sp>
      <p:sp>
        <p:nvSpPr>
          <p:cNvPr id="9" name="Rectangle 8">
            <a:extLst>
              <a:ext uri="{FF2B5EF4-FFF2-40B4-BE49-F238E27FC236}">
                <a16:creationId xmlns:a16="http://schemas.microsoft.com/office/drawing/2014/main" id="{1CAF9764-4C5D-44A5-A189-D46FBFA8B099}"/>
              </a:ext>
            </a:extLst>
          </p:cNvPr>
          <p:cNvSpPr>
            <a:spLocks noGrp="1"/>
          </p:cNvSpPr>
          <p:nvPr/>
        </p:nvSpPr>
        <p:spPr>
          <a:xfrm>
            <a:off x="666750" y="4105275"/>
            <a:ext cx="1562100" cy="7429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dirty="0">
                <a:solidFill>
                  <a:srgbClr val="64748B"/>
                </a:solidFill>
                <a:latin typeface="Aptos"/>
                <a:ea typeface="Aptos"/>
                <a:cs typeface="Aptos"/>
              </a:rPr>
              <a:t>Choose DB pool, memory leak, or cascading timeout scenario from the dashboard.</a:t>
            </a:r>
          </a:p>
        </p:txBody>
      </p:sp>
      <p:sp>
        <p:nvSpPr>
          <p:cNvPr id="10" name="Rectangle: Rounded Corners 9">
            <a:extLst>
              <a:ext uri="{FF2B5EF4-FFF2-40B4-BE49-F238E27FC236}">
                <a16:creationId xmlns:a16="http://schemas.microsoft.com/office/drawing/2014/main" id="{A0B38572-5112-4ACC-A089-FA96BB5C7633}"/>
              </a:ext>
            </a:extLst>
          </p:cNvPr>
          <p:cNvSpPr>
            <a:spLocks noGrp="1"/>
          </p:cNvSpPr>
          <p:nvPr/>
        </p:nvSpPr>
        <p:spPr>
          <a:xfrm>
            <a:off x="2762250" y="2714624"/>
            <a:ext cx="1943100" cy="2534031"/>
          </a:xfrm>
          <a:prstGeom prst="roundRect">
            <a:avLst>
              <a:gd name="adj" fmla="val 2941"/>
            </a:avLst>
          </a:prstGeom>
          <a:solidFill>
            <a:srgbClr val="FFFFFF"/>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6A931FD6-E78F-4987-814F-814C633CA106}"/>
              </a:ext>
            </a:extLst>
          </p:cNvPr>
          <p:cNvSpPr>
            <a:spLocks noGrp="1"/>
          </p:cNvSpPr>
          <p:nvPr/>
        </p:nvSpPr>
        <p:spPr>
          <a:xfrm>
            <a:off x="2952750" y="2886075"/>
            <a:ext cx="533400" cy="400050"/>
          </a:xfrm>
          <a:prstGeom prst="rect">
            <a:avLst/>
          </a:prstGeom>
          <a:noFill/>
          <a:ln w="0">
            <a:noFill/>
            <a:prstDash val="solid"/>
          </a:ln>
        </p:spPr>
        <p:txBody>
          <a:bodyPr anchor="t"/>
          <a:lstStyle/>
          <a:p>
            <a:pPr algn="l">
              <a:defRPr sz="2250" b="1">
                <a:solidFill>
                  <a:srgbClr val="0891B2"/>
                </a:solidFill>
                <a:latin typeface="Aptos"/>
                <a:ea typeface="Aptos"/>
                <a:cs typeface="Aptos"/>
              </a:defRPr>
            </a:pPr>
            <a:r>
              <a:rPr sz="2250" b="1">
                <a:solidFill>
                  <a:srgbClr val="0891B2"/>
                </a:solidFill>
                <a:latin typeface="Aptos"/>
                <a:ea typeface="Aptos"/>
                <a:cs typeface="Aptos"/>
              </a:rPr>
              <a:t>02</a:t>
            </a:r>
          </a:p>
        </p:txBody>
      </p:sp>
      <p:sp>
        <p:nvSpPr>
          <p:cNvPr id="12" name="Rectangle 11">
            <a:extLst>
              <a:ext uri="{FF2B5EF4-FFF2-40B4-BE49-F238E27FC236}">
                <a16:creationId xmlns:a16="http://schemas.microsoft.com/office/drawing/2014/main" id="{BBBA0A34-D012-4430-9437-F07B84350FFF}"/>
              </a:ext>
            </a:extLst>
          </p:cNvPr>
          <p:cNvSpPr>
            <a:spLocks noGrp="1"/>
          </p:cNvSpPr>
          <p:nvPr/>
        </p:nvSpPr>
        <p:spPr>
          <a:xfrm>
            <a:off x="2952750" y="3438525"/>
            <a:ext cx="1562100" cy="571500"/>
          </a:xfrm>
          <a:prstGeom prst="rect">
            <a:avLst/>
          </a:prstGeom>
          <a:noFill/>
          <a:ln w="0">
            <a:noFill/>
            <a:prstDash val="solid"/>
          </a:ln>
        </p:spPr>
        <p:txBody>
          <a:bodyPr anchor="t"/>
          <a:lstStyle/>
          <a:p>
            <a:pPr algn="l">
              <a:defRPr sz="2025" b="1">
                <a:solidFill>
                  <a:srgbClr val="0F172A"/>
                </a:solidFill>
                <a:latin typeface="Aptos"/>
                <a:ea typeface="Aptos"/>
                <a:cs typeface="Aptos"/>
              </a:defRPr>
            </a:pPr>
            <a:r>
              <a:rPr sz="2025" b="1">
                <a:solidFill>
                  <a:srgbClr val="0F172A"/>
                </a:solidFill>
                <a:latin typeface="Aptos"/>
                <a:ea typeface="Aptos"/>
                <a:cs typeface="Aptos"/>
              </a:rPr>
              <a:t>Investigate</a:t>
            </a:r>
          </a:p>
        </p:txBody>
      </p:sp>
      <p:sp>
        <p:nvSpPr>
          <p:cNvPr id="13" name="Rectangle 12">
            <a:extLst>
              <a:ext uri="{FF2B5EF4-FFF2-40B4-BE49-F238E27FC236}">
                <a16:creationId xmlns:a16="http://schemas.microsoft.com/office/drawing/2014/main" id="{5C0E85B7-F611-4281-86C7-F0C8711FF8AE}"/>
              </a:ext>
            </a:extLst>
          </p:cNvPr>
          <p:cNvSpPr>
            <a:spLocks noGrp="1"/>
          </p:cNvSpPr>
          <p:nvPr/>
        </p:nvSpPr>
        <p:spPr>
          <a:xfrm>
            <a:off x="2952750" y="4105275"/>
            <a:ext cx="1562100" cy="7429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dirty="0">
                <a:solidFill>
                  <a:srgbClr val="64748B"/>
                </a:solidFill>
                <a:latin typeface="Aptos"/>
                <a:ea typeface="Aptos"/>
                <a:cs typeface="Aptos"/>
              </a:rPr>
              <a:t>Agents collect signals and build an evidence-backed incident record.</a:t>
            </a:r>
          </a:p>
        </p:txBody>
      </p:sp>
      <p:sp>
        <p:nvSpPr>
          <p:cNvPr id="14" name="Rectangle: Rounded Corners 13">
            <a:extLst>
              <a:ext uri="{FF2B5EF4-FFF2-40B4-BE49-F238E27FC236}">
                <a16:creationId xmlns:a16="http://schemas.microsoft.com/office/drawing/2014/main" id="{459C3355-1CE3-4887-BB63-ABC09AC814A5}"/>
              </a:ext>
            </a:extLst>
          </p:cNvPr>
          <p:cNvSpPr>
            <a:spLocks noGrp="1"/>
          </p:cNvSpPr>
          <p:nvPr/>
        </p:nvSpPr>
        <p:spPr>
          <a:xfrm>
            <a:off x="5048250" y="2714624"/>
            <a:ext cx="1943100" cy="2863215"/>
          </a:xfrm>
          <a:prstGeom prst="roundRect">
            <a:avLst>
              <a:gd name="adj" fmla="val 2941"/>
            </a:avLst>
          </a:prstGeom>
          <a:solidFill>
            <a:srgbClr val="FFFFFF"/>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DBAD3D85-940A-4907-A1BD-1DDDBDF83D2D}"/>
              </a:ext>
            </a:extLst>
          </p:cNvPr>
          <p:cNvSpPr>
            <a:spLocks noGrp="1"/>
          </p:cNvSpPr>
          <p:nvPr/>
        </p:nvSpPr>
        <p:spPr>
          <a:xfrm>
            <a:off x="5238750" y="2886075"/>
            <a:ext cx="533400" cy="400050"/>
          </a:xfrm>
          <a:prstGeom prst="rect">
            <a:avLst/>
          </a:prstGeom>
          <a:noFill/>
          <a:ln w="0">
            <a:noFill/>
            <a:prstDash val="solid"/>
          </a:ln>
        </p:spPr>
        <p:txBody>
          <a:bodyPr anchor="t"/>
          <a:lstStyle/>
          <a:p>
            <a:pPr algn="l">
              <a:defRPr sz="2250" b="1">
                <a:solidFill>
                  <a:srgbClr val="EA580C"/>
                </a:solidFill>
                <a:latin typeface="Aptos"/>
                <a:ea typeface="Aptos"/>
                <a:cs typeface="Aptos"/>
              </a:defRPr>
            </a:pPr>
            <a:r>
              <a:rPr sz="2250" b="1">
                <a:solidFill>
                  <a:srgbClr val="EA580C"/>
                </a:solidFill>
                <a:latin typeface="Aptos"/>
                <a:ea typeface="Aptos"/>
                <a:cs typeface="Aptos"/>
              </a:rPr>
              <a:t>03</a:t>
            </a:r>
          </a:p>
        </p:txBody>
      </p:sp>
      <p:sp>
        <p:nvSpPr>
          <p:cNvPr id="16" name="Rectangle 15">
            <a:extLst>
              <a:ext uri="{FF2B5EF4-FFF2-40B4-BE49-F238E27FC236}">
                <a16:creationId xmlns:a16="http://schemas.microsoft.com/office/drawing/2014/main" id="{67B3313A-4026-4100-97BF-279A54D1C21B}"/>
              </a:ext>
            </a:extLst>
          </p:cNvPr>
          <p:cNvSpPr>
            <a:spLocks noGrp="1"/>
          </p:cNvSpPr>
          <p:nvPr/>
        </p:nvSpPr>
        <p:spPr>
          <a:xfrm>
            <a:off x="5238750" y="3438525"/>
            <a:ext cx="1562100" cy="571500"/>
          </a:xfrm>
          <a:prstGeom prst="rect">
            <a:avLst/>
          </a:prstGeom>
          <a:noFill/>
          <a:ln w="0">
            <a:noFill/>
            <a:prstDash val="solid"/>
          </a:ln>
        </p:spPr>
        <p:txBody>
          <a:bodyPr anchor="t"/>
          <a:lstStyle/>
          <a:p>
            <a:pPr algn="l">
              <a:defRPr sz="2025" b="1">
                <a:solidFill>
                  <a:srgbClr val="0F172A"/>
                </a:solidFill>
                <a:latin typeface="Aptos"/>
                <a:ea typeface="Aptos"/>
                <a:cs typeface="Aptos"/>
              </a:defRPr>
            </a:pPr>
            <a:r>
              <a:rPr sz="2025" b="1">
                <a:solidFill>
                  <a:srgbClr val="0F172A"/>
                </a:solidFill>
                <a:latin typeface="Aptos"/>
                <a:ea typeface="Aptos"/>
                <a:cs typeface="Aptos"/>
              </a:rPr>
              <a:t>Explain</a:t>
            </a:r>
          </a:p>
        </p:txBody>
      </p:sp>
      <p:sp>
        <p:nvSpPr>
          <p:cNvPr id="17" name="Rectangle 16">
            <a:extLst>
              <a:ext uri="{FF2B5EF4-FFF2-40B4-BE49-F238E27FC236}">
                <a16:creationId xmlns:a16="http://schemas.microsoft.com/office/drawing/2014/main" id="{FEB37CED-7E62-4199-9E6B-223C31DC3509}"/>
              </a:ext>
            </a:extLst>
          </p:cNvPr>
          <p:cNvSpPr>
            <a:spLocks noGrp="1"/>
          </p:cNvSpPr>
          <p:nvPr/>
        </p:nvSpPr>
        <p:spPr>
          <a:xfrm>
            <a:off x="5238750" y="4105275"/>
            <a:ext cx="1562100" cy="7429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dirty="0">
                <a:solidFill>
                  <a:srgbClr val="64748B"/>
                </a:solidFill>
                <a:latin typeface="Aptos"/>
                <a:ea typeface="Aptos"/>
                <a:cs typeface="Aptos"/>
              </a:rPr>
              <a:t>RCA, confidence, impact, summaries, and recovery recommendations appear in detail view.</a:t>
            </a:r>
          </a:p>
        </p:txBody>
      </p:sp>
      <p:sp>
        <p:nvSpPr>
          <p:cNvPr id="18" name="Rectangle: Rounded Corners 17">
            <a:extLst>
              <a:ext uri="{FF2B5EF4-FFF2-40B4-BE49-F238E27FC236}">
                <a16:creationId xmlns:a16="http://schemas.microsoft.com/office/drawing/2014/main" id="{B2C0F390-4009-4533-B0A6-DB7B08FB6476}"/>
              </a:ext>
            </a:extLst>
          </p:cNvPr>
          <p:cNvSpPr>
            <a:spLocks noGrp="1"/>
          </p:cNvSpPr>
          <p:nvPr/>
        </p:nvSpPr>
        <p:spPr>
          <a:xfrm>
            <a:off x="7334250" y="2714625"/>
            <a:ext cx="1943100" cy="2534030"/>
          </a:xfrm>
          <a:prstGeom prst="roundRect">
            <a:avLst>
              <a:gd name="adj" fmla="val 2941"/>
            </a:avLst>
          </a:prstGeom>
          <a:solidFill>
            <a:srgbClr val="FFFFFF"/>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21AD936D-02E8-43BD-908F-93BB8FACD122}"/>
              </a:ext>
            </a:extLst>
          </p:cNvPr>
          <p:cNvSpPr>
            <a:spLocks noGrp="1"/>
          </p:cNvSpPr>
          <p:nvPr/>
        </p:nvSpPr>
        <p:spPr>
          <a:xfrm>
            <a:off x="7524750" y="2886075"/>
            <a:ext cx="533400" cy="400050"/>
          </a:xfrm>
          <a:prstGeom prst="rect">
            <a:avLst/>
          </a:prstGeom>
          <a:noFill/>
          <a:ln w="0">
            <a:noFill/>
            <a:prstDash val="solid"/>
          </a:ln>
        </p:spPr>
        <p:txBody>
          <a:bodyPr anchor="t"/>
          <a:lstStyle/>
          <a:p>
            <a:pPr algn="l">
              <a:defRPr sz="2250" b="1">
                <a:solidFill>
                  <a:srgbClr val="16A34A"/>
                </a:solidFill>
                <a:latin typeface="Aptos"/>
                <a:ea typeface="Aptos"/>
                <a:cs typeface="Aptos"/>
              </a:defRPr>
            </a:pPr>
            <a:r>
              <a:rPr sz="2250" b="1">
                <a:solidFill>
                  <a:srgbClr val="16A34A"/>
                </a:solidFill>
                <a:latin typeface="Aptos"/>
                <a:ea typeface="Aptos"/>
                <a:cs typeface="Aptos"/>
              </a:rPr>
              <a:t>04</a:t>
            </a:r>
          </a:p>
        </p:txBody>
      </p:sp>
      <p:sp>
        <p:nvSpPr>
          <p:cNvPr id="20" name="Rectangle 19">
            <a:extLst>
              <a:ext uri="{FF2B5EF4-FFF2-40B4-BE49-F238E27FC236}">
                <a16:creationId xmlns:a16="http://schemas.microsoft.com/office/drawing/2014/main" id="{3A5B18B8-F82F-4AC5-9345-D3166B5B79F7}"/>
              </a:ext>
            </a:extLst>
          </p:cNvPr>
          <p:cNvSpPr>
            <a:spLocks noGrp="1"/>
          </p:cNvSpPr>
          <p:nvPr/>
        </p:nvSpPr>
        <p:spPr>
          <a:xfrm>
            <a:off x="7524750" y="3438525"/>
            <a:ext cx="1562100" cy="571500"/>
          </a:xfrm>
          <a:prstGeom prst="rect">
            <a:avLst/>
          </a:prstGeom>
          <a:noFill/>
          <a:ln w="0">
            <a:noFill/>
            <a:prstDash val="solid"/>
          </a:ln>
        </p:spPr>
        <p:txBody>
          <a:bodyPr anchor="t"/>
          <a:lstStyle/>
          <a:p>
            <a:pPr algn="l">
              <a:defRPr sz="2025" b="1">
                <a:solidFill>
                  <a:srgbClr val="0F172A"/>
                </a:solidFill>
                <a:latin typeface="Aptos"/>
                <a:ea typeface="Aptos"/>
                <a:cs typeface="Aptos"/>
              </a:defRPr>
            </a:pPr>
            <a:r>
              <a:rPr sz="2025" b="1">
                <a:solidFill>
                  <a:srgbClr val="0F172A"/>
                </a:solidFill>
                <a:latin typeface="Aptos"/>
                <a:ea typeface="Aptos"/>
                <a:cs typeface="Aptos"/>
              </a:rPr>
              <a:t>Govern</a:t>
            </a:r>
          </a:p>
        </p:txBody>
      </p:sp>
      <p:sp>
        <p:nvSpPr>
          <p:cNvPr id="21" name="Rectangle 20">
            <a:extLst>
              <a:ext uri="{FF2B5EF4-FFF2-40B4-BE49-F238E27FC236}">
                <a16:creationId xmlns:a16="http://schemas.microsoft.com/office/drawing/2014/main" id="{FC93C5FF-F3BF-4F42-A65E-551AD31E4AE3}"/>
              </a:ext>
            </a:extLst>
          </p:cNvPr>
          <p:cNvSpPr>
            <a:spLocks noGrp="1"/>
          </p:cNvSpPr>
          <p:nvPr/>
        </p:nvSpPr>
        <p:spPr>
          <a:xfrm>
            <a:off x="7524750" y="4105275"/>
            <a:ext cx="1562100" cy="7429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Human reviewer accepts, rejects, requests more data, or overrides the root cause.</a:t>
            </a:r>
          </a:p>
        </p:txBody>
      </p:sp>
      <p:sp>
        <p:nvSpPr>
          <p:cNvPr id="22" name="Rectangle: Rounded Corners 21">
            <a:extLst>
              <a:ext uri="{FF2B5EF4-FFF2-40B4-BE49-F238E27FC236}">
                <a16:creationId xmlns:a16="http://schemas.microsoft.com/office/drawing/2014/main" id="{7030C31E-F38C-4CA0-8ED6-C0F06BDC1DBC}"/>
              </a:ext>
            </a:extLst>
          </p:cNvPr>
          <p:cNvSpPr>
            <a:spLocks noGrp="1"/>
          </p:cNvSpPr>
          <p:nvPr/>
        </p:nvSpPr>
        <p:spPr>
          <a:xfrm>
            <a:off x="9620250" y="2714624"/>
            <a:ext cx="1943100" cy="2534029"/>
          </a:xfrm>
          <a:prstGeom prst="roundRect">
            <a:avLst>
              <a:gd name="adj" fmla="val 2941"/>
            </a:avLst>
          </a:prstGeom>
          <a:solidFill>
            <a:srgbClr val="FFFFFF"/>
          </a:solidFill>
          <a:ln w="9525">
            <a:solidFill>
              <a:srgbClr val="CBD5E1"/>
            </a:solidFill>
            <a:prstDash val="solid"/>
          </a:ln>
        </p:spPr>
        <p:txBody>
          <a:bodyPr/>
          <a:lstStyle/>
          <a:p>
            <a:endParaRPr lang="en-US"/>
          </a:p>
        </p:txBody>
      </p:sp>
      <p:sp>
        <p:nvSpPr>
          <p:cNvPr id="23" name="Rectangle 22">
            <a:extLst>
              <a:ext uri="{FF2B5EF4-FFF2-40B4-BE49-F238E27FC236}">
                <a16:creationId xmlns:a16="http://schemas.microsoft.com/office/drawing/2014/main" id="{556DAE51-1B18-4D8D-B714-51C0D27B8942}"/>
              </a:ext>
            </a:extLst>
          </p:cNvPr>
          <p:cNvSpPr>
            <a:spLocks noGrp="1"/>
          </p:cNvSpPr>
          <p:nvPr/>
        </p:nvSpPr>
        <p:spPr>
          <a:xfrm>
            <a:off x="9810750" y="2886075"/>
            <a:ext cx="533400" cy="400050"/>
          </a:xfrm>
          <a:prstGeom prst="rect">
            <a:avLst/>
          </a:prstGeom>
          <a:noFill/>
          <a:ln w="0">
            <a:noFill/>
            <a:prstDash val="solid"/>
          </a:ln>
        </p:spPr>
        <p:txBody>
          <a:bodyPr anchor="t"/>
          <a:lstStyle/>
          <a:p>
            <a:pPr algn="l">
              <a:defRPr sz="2250" b="1">
                <a:solidFill>
                  <a:srgbClr val="DC2626"/>
                </a:solidFill>
                <a:latin typeface="Aptos"/>
                <a:ea typeface="Aptos"/>
                <a:cs typeface="Aptos"/>
              </a:defRPr>
            </a:pPr>
            <a:r>
              <a:rPr sz="2250" b="1">
                <a:solidFill>
                  <a:srgbClr val="DC2626"/>
                </a:solidFill>
                <a:latin typeface="Aptos"/>
                <a:ea typeface="Aptos"/>
                <a:cs typeface="Aptos"/>
              </a:rPr>
              <a:t>05</a:t>
            </a:r>
          </a:p>
        </p:txBody>
      </p:sp>
      <p:sp>
        <p:nvSpPr>
          <p:cNvPr id="24" name="Rectangle 23">
            <a:extLst>
              <a:ext uri="{FF2B5EF4-FFF2-40B4-BE49-F238E27FC236}">
                <a16:creationId xmlns:a16="http://schemas.microsoft.com/office/drawing/2014/main" id="{B48F6659-092C-438F-910E-2B650C7F01DE}"/>
              </a:ext>
            </a:extLst>
          </p:cNvPr>
          <p:cNvSpPr>
            <a:spLocks noGrp="1"/>
          </p:cNvSpPr>
          <p:nvPr/>
        </p:nvSpPr>
        <p:spPr>
          <a:xfrm>
            <a:off x="9810750" y="3438525"/>
            <a:ext cx="1562100" cy="571500"/>
          </a:xfrm>
          <a:prstGeom prst="rect">
            <a:avLst/>
          </a:prstGeom>
          <a:noFill/>
          <a:ln w="0">
            <a:noFill/>
            <a:prstDash val="solid"/>
          </a:ln>
        </p:spPr>
        <p:txBody>
          <a:bodyPr anchor="t"/>
          <a:lstStyle/>
          <a:p>
            <a:pPr algn="l">
              <a:defRPr sz="2025" b="1">
                <a:solidFill>
                  <a:srgbClr val="0F172A"/>
                </a:solidFill>
                <a:latin typeface="Aptos"/>
                <a:ea typeface="Aptos"/>
                <a:cs typeface="Aptos"/>
              </a:defRPr>
            </a:pPr>
            <a:r>
              <a:rPr sz="2025" b="1">
                <a:solidFill>
                  <a:srgbClr val="0F172A"/>
                </a:solidFill>
                <a:latin typeface="Aptos"/>
                <a:ea typeface="Aptos"/>
                <a:cs typeface="Aptos"/>
              </a:rPr>
              <a:t>Recover</a:t>
            </a:r>
          </a:p>
        </p:txBody>
      </p:sp>
      <p:sp>
        <p:nvSpPr>
          <p:cNvPr id="25" name="Rectangle 24">
            <a:extLst>
              <a:ext uri="{FF2B5EF4-FFF2-40B4-BE49-F238E27FC236}">
                <a16:creationId xmlns:a16="http://schemas.microsoft.com/office/drawing/2014/main" id="{3DF7278F-8E36-4D1F-93F4-5CA91F73E2BD}"/>
              </a:ext>
            </a:extLst>
          </p:cNvPr>
          <p:cNvSpPr>
            <a:spLocks noGrp="1"/>
          </p:cNvSpPr>
          <p:nvPr/>
        </p:nvSpPr>
        <p:spPr>
          <a:xfrm>
            <a:off x="9810750" y="4105275"/>
            <a:ext cx="1562100" cy="7429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dirty="0">
                <a:solidFill>
                  <a:srgbClr val="64748B"/>
                </a:solidFill>
                <a:latin typeface="Aptos"/>
                <a:ea typeface="Aptos"/>
                <a:cs typeface="Aptos"/>
              </a:rPr>
              <a:t>Remediation steps are approved or rejected and a postmortem can be exported.</a:t>
            </a:r>
          </a:p>
        </p:txBody>
      </p:sp>
    </p:spTree>
    <p:extLst>
      <p:ext uri="{BB962C8B-B14F-4D97-AF65-F5344CB8AC3E}">
        <p14:creationId xmlns:p14="http://schemas.microsoft.com/office/powerpoint/2010/main" val="811673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3A59C32-A6EC-40AA-9151-01F3271D6C55}"/>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AGENT COLLABORATION</a:t>
            </a:r>
          </a:p>
        </p:txBody>
      </p:sp>
      <p:sp>
        <p:nvSpPr>
          <p:cNvPr id="2" name="Rectangle 1">
            <a:extLst>
              <a:ext uri="{FF2B5EF4-FFF2-40B4-BE49-F238E27FC236}">
                <a16:creationId xmlns:a16="http://schemas.microsoft.com/office/drawing/2014/main" id="{45F0AF4B-72EF-49CE-90BB-01A7F284CD03}"/>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The multi-agent layer behaves like an incident-analysis assembly line.</a:t>
            </a:r>
          </a:p>
        </p:txBody>
      </p:sp>
      <p:sp>
        <p:nvSpPr>
          <p:cNvPr id="3" name="Rectangle 2">
            <a:extLst>
              <a:ext uri="{FF2B5EF4-FFF2-40B4-BE49-F238E27FC236}">
                <a16:creationId xmlns:a16="http://schemas.microsoft.com/office/drawing/2014/main" id="{74E0EE1D-D09C-49AA-8027-04A8E2A5890C}"/>
              </a:ext>
            </a:extLst>
          </p:cNvPr>
          <p:cNvSpPr>
            <a:spLocks noGrp="1"/>
          </p:cNvSpPr>
          <p:nvPr/>
        </p:nvSpPr>
        <p:spPr>
          <a:xfrm>
            <a:off x="400050" y="1693926"/>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dirty="0">
                <a:solidFill>
                  <a:srgbClr val="64748B"/>
                </a:solidFill>
                <a:latin typeface="Aptos"/>
                <a:ea typeface="Aptos"/>
                <a:cs typeface="Aptos"/>
              </a:rPr>
              <a:t>The UI does not hard-code agent internals; it renders the backend's `</a:t>
            </a:r>
            <a:r>
              <a:rPr sz="1575" b="0" dirty="0" err="1">
                <a:solidFill>
                  <a:srgbClr val="64748B"/>
                </a:solidFill>
                <a:latin typeface="Aptos"/>
                <a:ea typeface="Aptos"/>
                <a:cs typeface="Aptos"/>
              </a:rPr>
              <a:t>agent_invocations</a:t>
            </a:r>
            <a:r>
              <a:rPr sz="1575" b="0" dirty="0">
                <a:solidFill>
                  <a:srgbClr val="64748B"/>
                </a:solidFill>
                <a:latin typeface="Aptos"/>
                <a:ea typeface="Aptos"/>
                <a:cs typeface="Aptos"/>
              </a:rPr>
              <a:t>` and trace spans so each agent action remains inspectable.</a:t>
            </a:r>
          </a:p>
        </p:txBody>
      </p:sp>
      <p:sp>
        <p:nvSpPr>
          <p:cNvPr id="4" name="Rectangle 3">
            <a:extLst>
              <a:ext uri="{FF2B5EF4-FFF2-40B4-BE49-F238E27FC236}">
                <a16:creationId xmlns:a16="http://schemas.microsoft.com/office/drawing/2014/main" id="{C65F7B8F-B621-4E3C-BCF8-6BAEBDC802E0}"/>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70E1189F-0D5F-4C7D-947E-B14531414964}"/>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05</a:t>
            </a:r>
          </a:p>
        </p:txBody>
      </p:sp>
      <p:sp>
        <p:nvSpPr>
          <p:cNvPr id="6" name="Rectangle: Rounded Corners 5">
            <a:extLst>
              <a:ext uri="{FF2B5EF4-FFF2-40B4-BE49-F238E27FC236}">
                <a16:creationId xmlns:a16="http://schemas.microsoft.com/office/drawing/2014/main" id="{BBABA977-D426-476B-A918-B5263907EBC2}"/>
              </a:ext>
            </a:extLst>
          </p:cNvPr>
          <p:cNvSpPr>
            <a:spLocks noGrp="1"/>
          </p:cNvSpPr>
          <p:nvPr/>
        </p:nvSpPr>
        <p:spPr>
          <a:xfrm>
            <a:off x="685800" y="2381250"/>
            <a:ext cx="10810875" cy="3143250"/>
          </a:xfrm>
          <a:prstGeom prst="roundRect">
            <a:avLst>
              <a:gd name="adj" fmla="val 1818"/>
            </a:avLst>
          </a:prstGeom>
          <a:solidFill>
            <a:srgbClr val="F8FAFC"/>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659CD0F5-04E1-448D-A2D1-5C916121BDCF}"/>
              </a:ext>
            </a:extLst>
          </p:cNvPr>
          <p:cNvSpPr>
            <a:spLocks noGrp="1"/>
          </p:cNvSpPr>
          <p:nvPr/>
        </p:nvSpPr>
        <p:spPr>
          <a:xfrm>
            <a:off x="914400" y="2571750"/>
            <a:ext cx="2190750" cy="285750"/>
          </a:xfrm>
          <a:prstGeom prst="rect">
            <a:avLst/>
          </a:prstGeom>
          <a:noFill/>
          <a:ln w="0">
            <a:noFill/>
            <a:prstDash val="solid"/>
          </a:ln>
        </p:spPr>
        <p:txBody>
          <a:bodyPr anchor="t"/>
          <a:lstStyle/>
          <a:p>
            <a:pPr algn="l">
              <a:defRPr sz="1500" b="1">
                <a:solidFill>
                  <a:srgbClr val="0F172A"/>
                </a:solidFill>
                <a:latin typeface="Aptos"/>
                <a:ea typeface="Aptos"/>
                <a:cs typeface="Aptos"/>
              </a:defRPr>
            </a:pPr>
            <a:r>
              <a:rPr sz="1500" b="1">
                <a:solidFill>
                  <a:srgbClr val="0F172A"/>
                </a:solidFill>
                <a:latin typeface="Aptos"/>
                <a:ea typeface="Aptos"/>
                <a:cs typeface="Aptos"/>
              </a:rPr>
              <a:t>Signal intake</a:t>
            </a:r>
          </a:p>
        </p:txBody>
      </p:sp>
      <p:sp>
        <p:nvSpPr>
          <p:cNvPr id="8" name="Rectangle 7">
            <a:extLst>
              <a:ext uri="{FF2B5EF4-FFF2-40B4-BE49-F238E27FC236}">
                <a16:creationId xmlns:a16="http://schemas.microsoft.com/office/drawing/2014/main" id="{7F014DF8-88F3-4785-84D6-E9001DD9CBAA}"/>
              </a:ext>
            </a:extLst>
          </p:cNvPr>
          <p:cNvSpPr>
            <a:spLocks noGrp="1"/>
          </p:cNvSpPr>
          <p:nvPr/>
        </p:nvSpPr>
        <p:spPr>
          <a:xfrm>
            <a:off x="3400425" y="2571750"/>
            <a:ext cx="5476875" cy="4000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Normalizes the alert into service, severity, timestamp, and incident id.</a:t>
            </a:r>
          </a:p>
        </p:txBody>
      </p:sp>
      <p:sp>
        <p:nvSpPr>
          <p:cNvPr id="9" name="Rectangle 8">
            <a:extLst>
              <a:ext uri="{FF2B5EF4-FFF2-40B4-BE49-F238E27FC236}">
                <a16:creationId xmlns:a16="http://schemas.microsoft.com/office/drawing/2014/main" id="{FA5C1BF8-9133-4B4F-BAA6-ADCCE7C391EA}"/>
              </a:ext>
            </a:extLst>
          </p:cNvPr>
          <p:cNvSpPr>
            <a:spLocks noGrp="1"/>
          </p:cNvSpPr>
          <p:nvPr/>
        </p:nvSpPr>
        <p:spPr>
          <a:xfrm>
            <a:off x="9353550" y="2571750"/>
            <a:ext cx="1619250" cy="285750"/>
          </a:xfrm>
          <a:prstGeom prst="rect">
            <a:avLst/>
          </a:prstGeom>
          <a:noFill/>
          <a:ln w="0">
            <a:noFill/>
            <a:prstDash val="solid"/>
          </a:ln>
        </p:spPr>
        <p:txBody>
          <a:bodyPr anchor="t"/>
          <a:lstStyle/>
          <a:p>
            <a:pPr algn="r">
              <a:defRPr sz="1200" b="1">
                <a:solidFill>
                  <a:srgbClr val="2563EB"/>
                </a:solidFill>
                <a:latin typeface="Aptos"/>
                <a:ea typeface="Aptos"/>
                <a:cs typeface="Aptos"/>
              </a:defRPr>
            </a:pPr>
            <a:r>
              <a:rPr sz="1200" b="1">
                <a:solidFill>
                  <a:srgbClr val="2563EB"/>
                </a:solidFill>
                <a:latin typeface="Aptos"/>
                <a:ea typeface="Aptos"/>
                <a:cs typeface="Aptos"/>
              </a:rPr>
              <a:t>/api/incidents/trigger</a:t>
            </a:r>
          </a:p>
        </p:txBody>
      </p:sp>
      <p:sp>
        <p:nvSpPr>
          <p:cNvPr id="10" name="Rectangle 9">
            <a:extLst>
              <a:ext uri="{FF2B5EF4-FFF2-40B4-BE49-F238E27FC236}">
                <a16:creationId xmlns:a16="http://schemas.microsoft.com/office/drawing/2014/main" id="{B1CF91D4-C692-403D-AC8D-944B5910B354}"/>
              </a:ext>
            </a:extLst>
          </p:cNvPr>
          <p:cNvSpPr>
            <a:spLocks noGrp="1"/>
          </p:cNvSpPr>
          <p:nvPr/>
        </p:nvSpPr>
        <p:spPr>
          <a:xfrm>
            <a:off x="914400" y="3028950"/>
            <a:ext cx="10334625" cy="19050"/>
          </a:xfrm>
          <a:prstGeom prst="rect">
            <a:avLst/>
          </a:prstGeom>
          <a:solidFill>
            <a:srgbClr val="E2E8F0"/>
          </a:solidFill>
          <a:ln w="0">
            <a:solidFill>
              <a:srgbClr val="E2E8F0"/>
            </a:solidFill>
            <a:prstDash val="solid"/>
          </a:ln>
        </p:spPr>
        <p:txBody>
          <a:bodyPr/>
          <a:lstStyle/>
          <a:p>
            <a:endParaRPr lang="en-US"/>
          </a:p>
        </p:txBody>
      </p:sp>
      <p:sp>
        <p:nvSpPr>
          <p:cNvPr id="11" name="Rectangle 10">
            <a:extLst>
              <a:ext uri="{FF2B5EF4-FFF2-40B4-BE49-F238E27FC236}">
                <a16:creationId xmlns:a16="http://schemas.microsoft.com/office/drawing/2014/main" id="{1DADF2FF-034A-4865-B7EF-B75EFDC4D25C}"/>
              </a:ext>
            </a:extLst>
          </p:cNvPr>
          <p:cNvSpPr>
            <a:spLocks noGrp="1"/>
          </p:cNvSpPr>
          <p:nvPr/>
        </p:nvSpPr>
        <p:spPr>
          <a:xfrm>
            <a:off x="914400" y="3124200"/>
            <a:ext cx="2190750" cy="285750"/>
          </a:xfrm>
          <a:prstGeom prst="rect">
            <a:avLst/>
          </a:prstGeom>
          <a:noFill/>
          <a:ln w="0">
            <a:noFill/>
            <a:prstDash val="solid"/>
          </a:ln>
        </p:spPr>
        <p:txBody>
          <a:bodyPr anchor="t"/>
          <a:lstStyle/>
          <a:p>
            <a:pPr algn="l">
              <a:defRPr sz="1500" b="1">
                <a:solidFill>
                  <a:srgbClr val="0F172A"/>
                </a:solidFill>
                <a:latin typeface="Aptos"/>
                <a:ea typeface="Aptos"/>
                <a:cs typeface="Aptos"/>
              </a:defRPr>
            </a:pPr>
            <a:r>
              <a:rPr sz="1500" b="1">
                <a:solidFill>
                  <a:srgbClr val="0F172A"/>
                </a:solidFill>
                <a:latin typeface="Aptos"/>
                <a:ea typeface="Aptos"/>
                <a:cs typeface="Aptos"/>
              </a:rPr>
              <a:t>Evidence gathering</a:t>
            </a:r>
          </a:p>
        </p:txBody>
      </p:sp>
      <p:sp>
        <p:nvSpPr>
          <p:cNvPr id="12" name="Rectangle 11">
            <a:extLst>
              <a:ext uri="{FF2B5EF4-FFF2-40B4-BE49-F238E27FC236}">
                <a16:creationId xmlns:a16="http://schemas.microsoft.com/office/drawing/2014/main" id="{3C6DF4F3-AC28-4C34-8EEE-A8738544AC57}"/>
              </a:ext>
            </a:extLst>
          </p:cNvPr>
          <p:cNvSpPr>
            <a:spLocks noGrp="1"/>
          </p:cNvSpPr>
          <p:nvPr/>
        </p:nvSpPr>
        <p:spPr>
          <a:xfrm>
            <a:off x="3400425" y="3124200"/>
            <a:ext cx="5476875" cy="4000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Builds a catalog from logs, metrics, deployment changes, similar incidents, and impact context.</a:t>
            </a:r>
          </a:p>
        </p:txBody>
      </p:sp>
      <p:sp>
        <p:nvSpPr>
          <p:cNvPr id="13" name="Rectangle 12">
            <a:extLst>
              <a:ext uri="{FF2B5EF4-FFF2-40B4-BE49-F238E27FC236}">
                <a16:creationId xmlns:a16="http://schemas.microsoft.com/office/drawing/2014/main" id="{B1FD7405-F7D3-4DA4-B82B-C3661A50257B}"/>
              </a:ext>
            </a:extLst>
          </p:cNvPr>
          <p:cNvSpPr>
            <a:spLocks noGrp="1"/>
          </p:cNvSpPr>
          <p:nvPr/>
        </p:nvSpPr>
        <p:spPr>
          <a:xfrm>
            <a:off x="9353550" y="3124200"/>
            <a:ext cx="1619250" cy="285750"/>
          </a:xfrm>
          <a:prstGeom prst="rect">
            <a:avLst/>
          </a:prstGeom>
          <a:noFill/>
          <a:ln w="0">
            <a:noFill/>
            <a:prstDash val="solid"/>
          </a:ln>
        </p:spPr>
        <p:txBody>
          <a:bodyPr anchor="t"/>
          <a:lstStyle/>
          <a:p>
            <a:pPr algn="r">
              <a:defRPr sz="1200" b="1">
                <a:solidFill>
                  <a:srgbClr val="2563EB"/>
                </a:solidFill>
                <a:latin typeface="Aptos"/>
                <a:ea typeface="Aptos"/>
                <a:cs typeface="Aptos"/>
              </a:defRPr>
            </a:pPr>
            <a:r>
              <a:rPr sz="1200" b="1">
                <a:solidFill>
                  <a:srgbClr val="2563EB"/>
                </a:solidFill>
                <a:latin typeface="Aptos"/>
                <a:ea typeface="Aptos"/>
                <a:cs typeface="Aptos"/>
              </a:rPr>
              <a:t>evidence_catalog</a:t>
            </a:r>
          </a:p>
        </p:txBody>
      </p:sp>
      <p:sp>
        <p:nvSpPr>
          <p:cNvPr id="14" name="Rectangle 13">
            <a:extLst>
              <a:ext uri="{FF2B5EF4-FFF2-40B4-BE49-F238E27FC236}">
                <a16:creationId xmlns:a16="http://schemas.microsoft.com/office/drawing/2014/main" id="{ACC35870-3768-4075-B36A-DE2B31149E64}"/>
              </a:ext>
            </a:extLst>
          </p:cNvPr>
          <p:cNvSpPr>
            <a:spLocks noGrp="1"/>
          </p:cNvSpPr>
          <p:nvPr/>
        </p:nvSpPr>
        <p:spPr>
          <a:xfrm>
            <a:off x="914400" y="3581400"/>
            <a:ext cx="10334625" cy="19050"/>
          </a:xfrm>
          <a:prstGeom prst="rect">
            <a:avLst/>
          </a:prstGeom>
          <a:solidFill>
            <a:srgbClr val="E2E8F0"/>
          </a:solidFill>
          <a:ln w="0">
            <a:solidFill>
              <a:srgbClr val="E2E8F0"/>
            </a:solidFill>
            <a:prstDash val="solid"/>
          </a:ln>
        </p:spPr>
        <p:txBody>
          <a:bodyPr/>
          <a:lstStyle/>
          <a:p>
            <a:endParaRPr lang="en-US"/>
          </a:p>
        </p:txBody>
      </p:sp>
      <p:sp>
        <p:nvSpPr>
          <p:cNvPr id="15" name="Rectangle 14">
            <a:extLst>
              <a:ext uri="{FF2B5EF4-FFF2-40B4-BE49-F238E27FC236}">
                <a16:creationId xmlns:a16="http://schemas.microsoft.com/office/drawing/2014/main" id="{46949716-E8C8-4AC9-AE8E-025310A1EA41}"/>
              </a:ext>
            </a:extLst>
          </p:cNvPr>
          <p:cNvSpPr>
            <a:spLocks noGrp="1"/>
          </p:cNvSpPr>
          <p:nvPr/>
        </p:nvSpPr>
        <p:spPr>
          <a:xfrm>
            <a:off x="914400" y="3676650"/>
            <a:ext cx="2190750" cy="285750"/>
          </a:xfrm>
          <a:prstGeom prst="rect">
            <a:avLst/>
          </a:prstGeom>
          <a:noFill/>
          <a:ln w="0">
            <a:noFill/>
            <a:prstDash val="solid"/>
          </a:ln>
        </p:spPr>
        <p:txBody>
          <a:bodyPr anchor="t"/>
          <a:lstStyle/>
          <a:p>
            <a:pPr algn="l">
              <a:defRPr sz="1500" b="1">
                <a:solidFill>
                  <a:srgbClr val="0F172A"/>
                </a:solidFill>
                <a:latin typeface="Aptos"/>
                <a:ea typeface="Aptos"/>
                <a:cs typeface="Aptos"/>
              </a:defRPr>
            </a:pPr>
            <a:r>
              <a:rPr sz="1500" b="1">
                <a:solidFill>
                  <a:srgbClr val="0F172A"/>
                </a:solidFill>
                <a:latin typeface="Aptos"/>
                <a:ea typeface="Aptos"/>
                <a:cs typeface="Aptos"/>
              </a:rPr>
              <a:t>RCA synthesis</a:t>
            </a:r>
          </a:p>
        </p:txBody>
      </p:sp>
      <p:sp>
        <p:nvSpPr>
          <p:cNvPr id="16" name="Rectangle 15">
            <a:extLst>
              <a:ext uri="{FF2B5EF4-FFF2-40B4-BE49-F238E27FC236}">
                <a16:creationId xmlns:a16="http://schemas.microsoft.com/office/drawing/2014/main" id="{D1B69D01-435F-4466-B2C2-9E62D1980E0F}"/>
              </a:ext>
            </a:extLst>
          </p:cNvPr>
          <p:cNvSpPr>
            <a:spLocks noGrp="1"/>
          </p:cNvSpPr>
          <p:nvPr/>
        </p:nvSpPr>
        <p:spPr>
          <a:xfrm>
            <a:off x="3400425" y="3676650"/>
            <a:ext cx="5476875" cy="4000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Composes hypothesis, confidence, supporting evidence references, and ruled-out alternatives.</a:t>
            </a:r>
          </a:p>
        </p:txBody>
      </p:sp>
      <p:sp>
        <p:nvSpPr>
          <p:cNvPr id="17" name="Rectangle 16">
            <a:extLst>
              <a:ext uri="{FF2B5EF4-FFF2-40B4-BE49-F238E27FC236}">
                <a16:creationId xmlns:a16="http://schemas.microsoft.com/office/drawing/2014/main" id="{4C2956C1-8500-4D11-B9E8-39BB8F92BD0C}"/>
              </a:ext>
            </a:extLst>
          </p:cNvPr>
          <p:cNvSpPr>
            <a:spLocks noGrp="1"/>
          </p:cNvSpPr>
          <p:nvPr/>
        </p:nvSpPr>
        <p:spPr>
          <a:xfrm>
            <a:off x="9353550" y="3676650"/>
            <a:ext cx="1619250" cy="285750"/>
          </a:xfrm>
          <a:prstGeom prst="rect">
            <a:avLst/>
          </a:prstGeom>
          <a:noFill/>
          <a:ln w="0">
            <a:noFill/>
            <a:prstDash val="solid"/>
          </a:ln>
        </p:spPr>
        <p:txBody>
          <a:bodyPr anchor="t"/>
          <a:lstStyle/>
          <a:p>
            <a:pPr algn="r">
              <a:defRPr sz="1200" b="1">
                <a:solidFill>
                  <a:srgbClr val="2563EB"/>
                </a:solidFill>
                <a:latin typeface="Aptos"/>
                <a:ea typeface="Aptos"/>
                <a:cs typeface="Aptos"/>
              </a:defRPr>
            </a:pPr>
            <a:r>
              <a:rPr sz="1200" b="1">
                <a:solidFill>
                  <a:srgbClr val="2563EB"/>
                </a:solidFill>
                <a:latin typeface="Aptos"/>
                <a:ea typeface="Aptos"/>
                <a:cs typeface="Aptos"/>
              </a:rPr>
              <a:t>root_cause</a:t>
            </a:r>
          </a:p>
        </p:txBody>
      </p:sp>
      <p:sp>
        <p:nvSpPr>
          <p:cNvPr id="18" name="Rectangle 17">
            <a:extLst>
              <a:ext uri="{FF2B5EF4-FFF2-40B4-BE49-F238E27FC236}">
                <a16:creationId xmlns:a16="http://schemas.microsoft.com/office/drawing/2014/main" id="{8B373E53-B06A-4E9B-BF6B-6E1138DA74CF}"/>
              </a:ext>
            </a:extLst>
          </p:cNvPr>
          <p:cNvSpPr>
            <a:spLocks noGrp="1"/>
          </p:cNvSpPr>
          <p:nvPr/>
        </p:nvSpPr>
        <p:spPr>
          <a:xfrm>
            <a:off x="914400" y="4133850"/>
            <a:ext cx="10334625" cy="19050"/>
          </a:xfrm>
          <a:prstGeom prst="rect">
            <a:avLst/>
          </a:prstGeom>
          <a:solidFill>
            <a:srgbClr val="E2E8F0"/>
          </a:solidFill>
          <a:ln w="0">
            <a:solidFill>
              <a:srgbClr val="E2E8F0"/>
            </a:solidFill>
            <a:prstDash val="solid"/>
          </a:ln>
        </p:spPr>
        <p:txBody>
          <a:bodyPr/>
          <a:lstStyle/>
          <a:p>
            <a:endParaRPr lang="en-US"/>
          </a:p>
        </p:txBody>
      </p:sp>
      <p:sp>
        <p:nvSpPr>
          <p:cNvPr id="19" name="Rectangle 18">
            <a:extLst>
              <a:ext uri="{FF2B5EF4-FFF2-40B4-BE49-F238E27FC236}">
                <a16:creationId xmlns:a16="http://schemas.microsoft.com/office/drawing/2014/main" id="{CC00A2F3-8FA0-43FF-A130-B49CCDA03D7E}"/>
              </a:ext>
            </a:extLst>
          </p:cNvPr>
          <p:cNvSpPr>
            <a:spLocks noGrp="1"/>
          </p:cNvSpPr>
          <p:nvPr/>
        </p:nvSpPr>
        <p:spPr>
          <a:xfrm>
            <a:off x="914400" y="4229100"/>
            <a:ext cx="2190750" cy="285750"/>
          </a:xfrm>
          <a:prstGeom prst="rect">
            <a:avLst/>
          </a:prstGeom>
          <a:noFill/>
          <a:ln w="0">
            <a:noFill/>
            <a:prstDash val="solid"/>
          </a:ln>
        </p:spPr>
        <p:txBody>
          <a:bodyPr anchor="t"/>
          <a:lstStyle/>
          <a:p>
            <a:pPr algn="l">
              <a:defRPr sz="1500" b="1">
                <a:solidFill>
                  <a:srgbClr val="0F172A"/>
                </a:solidFill>
                <a:latin typeface="Aptos"/>
                <a:ea typeface="Aptos"/>
                <a:cs typeface="Aptos"/>
              </a:defRPr>
            </a:pPr>
            <a:r>
              <a:rPr sz="1500" b="1">
                <a:solidFill>
                  <a:srgbClr val="0F172A"/>
                </a:solidFill>
                <a:latin typeface="Aptos"/>
                <a:ea typeface="Aptos"/>
                <a:cs typeface="Aptos"/>
              </a:rPr>
              <a:t>Recommendation</a:t>
            </a:r>
          </a:p>
        </p:txBody>
      </p:sp>
      <p:sp>
        <p:nvSpPr>
          <p:cNvPr id="20" name="Rectangle 19">
            <a:extLst>
              <a:ext uri="{FF2B5EF4-FFF2-40B4-BE49-F238E27FC236}">
                <a16:creationId xmlns:a16="http://schemas.microsoft.com/office/drawing/2014/main" id="{3481EA12-CC45-4171-A16C-9F649581490B}"/>
              </a:ext>
            </a:extLst>
          </p:cNvPr>
          <p:cNvSpPr>
            <a:spLocks noGrp="1"/>
          </p:cNvSpPr>
          <p:nvPr/>
        </p:nvSpPr>
        <p:spPr>
          <a:xfrm>
            <a:off x="3400425" y="4229100"/>
            <a:ext cx="5476875" cy="4000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Produces recovery recommendations and quality gates for reviewer confidence.</a:t>
            </a:r>
          </a:p>
        </p:txBody>
      </p:sp>
      <p:sp>
        <p:nvSpPr>
          <p:cNvPr id="21" name="Rectangle 20">
            <a:extLst>
              <a:ext uri="{FF2B5EF4-FFF2-40B4-BE49-F238E27FC236}">
                <a16:creationId xmlns:a16="http://schemas.microsoft.com/office/drawing/2014/main" id="{187B20D5-B0CA-4610-A363-38657FF98598}"/>
              </a:ext>
            </a:extLst>
          </p:cNvPr>
          <p:cNvSpPr>
            <a:spLocks noGrp="1"/>
          </p:cNvSpPr>
          <p:nvPr/>
        </p:nvSpPr>
        <p:spPr>
          <a:xfrm>
            <a:off x="9353550" y="4229100"/>
            <a:ext cx="1619250" cy="285750"/>
          </a:xfrm>
          <a:prstGeom prst="rect">
            <a:avLst/>
          </a:prstGeom>
          <a:noFill/>
          <a:ln w="0">
            <a:noFill/>
            <a:prstDash val="solid"/>
          </a:ln>
        </p:spPr>
        <p:txBody>
          <a:bodyPr anchor="t"/>
          <a:lstStyle/>
          <a:p>
            <a:pPr algn="r">
              <a:defRPr sz="1200" b="1">
                <a:solidFill>
                  <a:srgbClr val="2563EB"/>
                </a:solidFill>
                <a:latin typeface="Aptos"/>
                <a:ea typeface="Aptos"/>
                <a:cs typeface="Aptos"/>
              </a:defRPr>
            </a:pPr>
            <a:r>
              <a:rPr sz="1200" b="1">
                <a:solidFill>
                  <a:srgbClr val="2563EB"/>
                </a:solidFill>
                <a:latin typeface="Aptos"/>
                <a:ea typeface="Aptos"/>
                <a:cs typeface="Aptos"/>
              </a:rPr>
              <a:t>quality_gates</a:t>
            </a:r>
          </a:p>
        </p:txBody>
      </p:sp>
      <p:sp>
        <p:nvSpPr>
          <p:cNvPr id="22" name="Rectangle 21">
            <a:extLst>
              <a:ext uri="{FF2B5EF4-FFF2-40B4-BE49-F238E27FC236}">
                <a16:creationId xmlns:a16="http://schemas.microsoft.com/office/drawing/2014/main" id="{736CCDE7-3512-4483-BDDA-5AF279558D0A}"/>
              </a:ext>
            </a:extLst>
          </p:cNvPr>
          <p:cNvSpPr>
            <a:spLocks noGrp="1"/>
          </p:cNvSpPr>
          <p:nvPr/>
        </p:nvSpPr>
        <p:spPr>
          <a:xfrm>
            <a:off x="914400" y="4686300"/>
            <a:ext cx="10334625" cy="19050"/>
          </a:xfrm>
          <a:prstGeom prst="rect">
            <a:avLst/>
          </a:prstGeom>
          <a:solidFill>
            <a:srgbClr val="E2E8F0"/>
          </a:solidFill>
          <a:ln w="0">
            <a:solidFill>
              <a:srgbClr val="E2E8F0"/>
            </a:solidFill>
            <a:prstDash val="solid"/>
          </a:ln>
        </p:spPr>
        <p:txBody>
          <a:bodyPr/>
          <a:lstStyle/>
          <a:p>
            <a:endParaRPr lang="en-US"/>
          </a:p>
        </p:txBody>
      </p:sp>
      <p:sp>
        <p:nvSpPr>
          <p:cNvPr id="23" name="Rectangle 22">
            <a:extLst>
              <a:ext uri="{FF2B5EF4-FFF2-40B4-BE49-F238E27FC236}">
                <a16:creationId xmlns:a16="http://schemas.microsoft.com/office/drawing/2014/main" id="{11566491-8145-4EC2-B475-FEB3569E18DC}"/>
              </a:ext>
            </a:extLst>
          </p:cNvPr>
          <p:cNvSpPr>
            <a:spLocks noGrp="1"/>
          </p:cNvSpPr>
          <p:nvPr/>
        </p:nvSpPr>
        <p:spPr>
          <a:xfrm>
            <a:off x="914400" y="4781550"/>
            <a:ext cx="2190750" cy="285750"/>
          </a:xfrm>
          <a:prstGeom prst="rect">
            <a:avLst/>
          </a:prstGeom>
          <a:noFill/>
          <a:ln w="0">
            <a:noFill/>
            <a:prstDash val="solid"/>
          </a:ln>
        </p:spPr>
        <p:txBody>
          <a:bodyPr anchor="t"/>
          <a:lstStyle/>
          <a:p>
            <a:pPr algn="l">
              <a:defRPr sz="1500" b="1">
                <a:solidFill>
                  <a:srgbClr val="0F172A"/>
                </a:solidFill>
                <a:latin typeface="Aptos"/>
                <a:ea typeface="Aptos"/>
                <a:cs typeface="Aptos"/>
              </a:defRPr>
            </a:pPr>
            <a:r>
              <a:rPr sz="1500" b="1">
                <a:solidFill>
                  <a:srgbClr val="0F172A"/>
                </a:solidFill>
                <a:latin typeface="Aptos"/>
                <a:ea typeface="Aptos"/>
                <a:cs typeface="Aptos"/>
              </a:rPr>
              <a:t>Trace export</a:t>
            </a:r>
          </a:p>
        </p:txBody>
      </p:sp>
      <p:sp>
        <p:nvSpPr>
          <p:cNvPr id="24" name="Rectangle 23">
            <a:extLst>
              <a:ext uri="{FF2B5EF4-FFF2-40B4-BE49-F238E27FC236}">
                <a16:creationId xmlns:a16="http://schemas.microsoft.com/office/drawing/2014/main" id="{D343D15D-B5F8-4A7B-860A-F50C15548274}"/>
              </a:ext>
            </a:extLst>
          </p:cNvPr>
          <p:cNvSpPr>
            <a:spLocks noGrp="1"/>
          </p:cNvSpPr>
          <p:nvPr/>
        </p:nvSpPr>
        <p:spPr>
          <a:xfrm>
            <a:off x="3400425" y="4781550"/>
            <a:ext cx="5476875" cy="40005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Returns spans with agent, reasoning, latency, parent span, and source metadata.</a:t>
            </a:r>
          </a:p>
        </p:txBody>
      </p:sp>
      <p:sp>
        <p:nvSpPr>
          <p:cNvPr id="25" name="Rectangle 24">
            <a:extLst>
              <a:ext uri="{FF2B5EF4-FFF2-40B4-BE49-F238E27FC236}">
                <a16:creationId xmlns:a16="http://schemas.microsoft.com/office/drawing/2014/main" id="{9069F12B-09FC-4992-923B-DA611E2A88A4}"/>
              </a:ext>
            </a:extLst>
          </p:cNvPr>
          <p:cNvSpPr>
            <a:spLocks noGrp="1"/>
          </p:cNvSpPr>
          <p:nvPr/>
        </p:nvSpPr>
        <p:spPr>
          <a:xfrm>
            <a:off x="9353550" y="4781550"/>
            <a:ext cx="1619250" cy="285750"/>
          </a:xfrm>
          <a:prstGeom prst="rect">
            <a:avLst/>
          </a:prstGeom>
          <a:noFill/>
          <a:ln w="0">
            <a:noFill/>
            <a:prstDash val="solid"/>
          </a:ln>
        </p:spPr>
        <p:txBody>
          <a:bodyPr anchor="t"/>
          <a:lstStyle/>
          <a:p>
            <a:pPr algn="r">
              <a:defRPr sz="1200" b="1">
                <a:solidFill>
                  <a:srgbClr val="2563EB"/>
                </a:solidFill>
                <a:latin typeface="Aptos"/>
                <a:ea typeface="Aptos"/>
                <a:cs typeface="Aptos"/>
              </a:defRPr>
            </a:pPr>
            <a:r>
              <a:rPr sz="1200" b="1">
                <a:solidFill>
                  <a:srgbClr val="2563EB"/>
                </a:solidFill>
                <a:latin typeface="Aptos"/>
                <a:ea typeface="Aptos"/>
                <a:cs typeface="Aptos"/>
              </a:rPr>
              <a:t>/trace</a:t>
            </a:r>
          </a:p>
        </p:txBody>
      </p:sp>
    </p:spTree>
    <p:extLst>
      <p:ext uri="{BB962C8B-B14F-4D97-AF65-F5344CB8AC3E}">
        <p14:creationId xmlns:p14="http://schemas.microsoft.com/office/powerpoint/2010/main" val="1976319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D9817A3-1B5E-4EF5-BCB4-2957B0583609}"/>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COMMAND CENTER EXPERIENCE</a:t>
            </a:r>
          </a:p>
        </p:txBody>
      </p:sp>
      <p:sp>
        <p:nvSpPr>
          <p:cNvPr id="2" name="Rectangle 1">
            <a:extLst>
              <a:ext uri="{FF2B5EF4-FFF2-40B4-BE49-F238E27FC236}">
                <a16:creationId xmlns:a16="http://schemas.microsoft.com/office/drawing/2014/main" id="{B4735841-680F-43B9-BAAE-28B1D10D59DB}"/>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The dashboard keeps operators focused on the next action.</a:t>
            </a:r>
          </a:p>
        </p:txBody>
      </p:sp>
      <p:sp>
        <p:nvSpPr>
          <p:cNvPr id="3" name="Rectangle 2">
            <a:extLst>
              <a:ext uri="{FF2B5EF4-FFF2-40B4-BE49-F238E27FC236}">
                <a16:creationId xmlns:a16="http://schemas.microsoft.com/office/drawing/2014/main" id="{C883CAAF-0F0A-46F8-88F2-26F5BBC40D4E}"/>
              </a:ext>
            </a:extLst>
          </p:cNvPr>
          <p:cNvSpPr>
            <a:spLocks noGrp="1"/>
          </p:cNvSpPr>
          <p:nvPr/>
        </p:nvSpPr>
        <p:spPr>
          <a:xfrm>
            <a:off x="400050" y="1675638"/>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dirty="0">
                <a:solidFill>
                  <a:srgbClr val="64748B"/>
                </a:solidFill>
                <a:latin typeface="Aptos"/>
                <a:ea typeface="Aptos"/>
                <a:cs typeface="Aptos"/>
              </a:rPr>
              <a:t>It groups duplicate incident signatures, separates actionable incidents from history, and refreshes every 1.5 seconds during investigation.</a:t>
            </a:r>
          </a:p>
        </p:txBody>
      </p:sp>
      <p:sp>
        <p:nvSpPr>
          <p:cNvPr id="4" name="Rectangle 3">
            <a:extLst>
              <a:ext uri="{FF2B5EF4-FFF2-40B4-BE49-F238E27FC236}">
                <a16:creationId xmlns:a16="http://schemas.microsoft.com/office/drawing/2014/main" id="{89B835A3-D70A-4E56-B98B-3E6F4037550C}"/>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5910A5E1-134D-4AF1-A2EE-E00B6B8551A5}"/>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06</a:t>
            </a:r>
          </a:p>
        </p:txBody>
      </p:sp>
      <p:sp>
        <p:nvSpPr>
          <p:cNvPr id="6" name="Rectangle: Rounded Corners 5">
            <a:extLst>
              <a:ext uri="{FF2B5EF4-FFF2-40B4-BE49-F238E27FC236}">
                <a16:creationId xmlns:a16="http://schemas.microsoft.com/office/drawing/2014/main" id="{53CF0849-680C-422F-BEA7-B958285B86C9}"/>
              </a:ext>
            </a:extLst>
          </p:cNvPr>
          <p:cNvSpPr>
            <a:spLocks noGrp="1"/>
          </p:cNvSpPr>
          <p:nvPr/>
        </p:nvSpPr>
        <p:spPr>
          <a:xfrm>
            <a:off x="666750" y="2381250"/>
            <a:ext cx="4953000" cy="2952750"/>
          </a:xfrm>
          <a:prstGeom prst="roundRect">
            <a:avLst>
              <a:gd name="adj" fmla="val 1935"/>
            </a:avLst>
          </a:prstGeom>
          <a:solidFill>
            <a:srgbClr val="020617"/>
          </a:solidFill>
          <a:ln w="9525">
            <a:solidFill>
              <a:srgbClr val="334155"/>
            </a:solidFill>
            <a:prstDash val="solid"/>
          </a:ln>
        </p:spPr>
        <p:txBody>
          <a:bodyPr/>
          <a:lstStyle/>
          <a:p>
            <a:endParaRPr lang="en-US"/>
          </a:p>
        </p:txBody>
      </p:sp>
      <p:sp>
        <p:nvSpPr>
          <p:cNvPr id="7" name="Rectangle 6">
            <a:extLst>
              <a:ext uri="{FF2B5EF4-FFF2-40B4-BE49-F238E27FC236}">
                <a16:creationId xmlns:a16="http://schemas.microsoft.com/office/drawing/2014/main" id="{D63C7207-7349-4AAC-905D-E8D7210DBABD}"/>
              </a:ext>
            </a:extLst>
          </p:cNvPr>
          <p:cNvSpPr>
            <a:spLocks noGrp="1"/>
          </p:cNvSpPr>
          <p:nvPr/>
        </p:nvSpPr>
        <p:spPr>
          <a:xfrm>
            <a:off x="952500" y="2686050"/>
            <a:ext cx="2095500" cy="361950"/>
          </a:xfrm>
          <a:prstGeom prst="rect">
            <a:avLst/>
          </a:prstGeom>
          <a:noFill/>
          <a:ln w="0">
            <a:noFill/>
            <a:prstDash val="solid"/>
          </a:ln>
        </p:spPr>
        <p:txBody>
          <a:bodyPr anchor="t"/>
          <a:lstStyle/>
          <a:p>
            <a:pPr algn="l">
              <a:defRPr sz="2100" b="1">
                <a:solidFill>
                  <a:srgbClr val="FFFFFF"/>
                </a:solidFill>
                <a:latin typeface="Aptos"/>
                <a:ea typeface="Aptos"/>
                <a:cs typeface="Aptos"/>
              </a:defRPr>
            </a:pPr>
            <a:r>
              <a:rPr sz="2100" b="1">
                <a:solidFill>
                  <a:srgbClr val="FFFFFF"/>
                </a:solidFill>
                <a:latin typeface="Aptos"/>
                <a:ea typeface="Aptos"/>
                <a:cs typeface="Aptos"/>
              </a:rPr>
              <a:t>Dashboard</a:t>
            </a:r>
          </a:p>
        </p:txBody>
      </p:sp>
      <p:sp>
        <p:nvSpPr>
          <p:cNvPr id="8" name="Rectangle 7">
            <a:extLst>
              <a:ext uri="{FF2B5EF4-FFF2-40B4-BE49-F238E27FC236}">
                <a16:creationId xmlns:a16="http://schemas.microsoft.com/office/drawing/2014/main" id="{01ED95BE-E7B7-4F8B-9DBF-6A739EA666A1}"/>
              </a:ext>
            </a:extLst>
          </p:cNvPr>
          <p:cNvSpPr>
            <a:spLocks noGrp="1"/>
          </p:cNvSpPr>
          <p:nvPr/>
        </p:nvSpPr>
        <p:spPr>
          <a:xfrm>
            <a:off x="971550" y="3295650"/>
            <a:ext cx="3905250" cy="1047750"/>
          </a:xfrm>
          <a:prstGeom prst="rect">
            <a:avLst/>
          </a:prstGeom>
          <a:noFill/>
          <a:ln w="0">
            <a:noFill/>
            <a:prstDash val="solid"/>
          </a:ln>
        </p:spPr>
        <p:txBody>
          <a:bodyPr anchor="t"/>
          <a:lstStyle/>
          <a:p>
            <a:pPr algn="l">
              <a:defRPr sz="1725" b="0">
                <a:solidFill>
                  <a:srgbClr val="CBD5E1"/>
                </a:solidFill>
                <a:latin typeface="Aptos"/>
                <a:ea typeface="Aptos"/>
                <a:cs typeface="Aptos"/>
              </a:defRPr>
            </a:pPr>
            <a:r>
              <a:rPr sz="1725" b="0">
                <a:solidFill>
                  <a:srgbClr val="CBD5E1"/>
                </a:solidFill>
                <a:latin typeface="Aptos"/>
                <a:ea typeface="Aptos"/>
                <a:cs typeface="Aptos"/>
              </a:rPr>
              <a:t>Launch scenarios</a:t>
            </a:r>
          </a:p>
          <a:p>
            <a:pPr algn="l">
              <a:defRPr sz="1725" b="0">
                <a:solidFill>
                  <a:srgbClr val="CBD5E1"/>
                </a:solidFill>
                <a:latin typeface="Aptos"/>
                <a:ea typeface="Aptos"/>
                <a:cs typeface="Aptos"/>
              </a:defRPr>
            </a:pPr>
            <a:r>
              <a:rPr sz="1725" b="0">
                <a:solidFill>
                  <a:srgbClr val="CBD5E1"/>
                </a:solidFill>
                <a:latin typeface="Aptos"/>
                <a:ea typeface="Aptos"/>
                <a:cs typeface="Aptos"/>
              </a:rPr>
              <a:t>• DB Pool Exhaustion</a:t>
            </a:r>
          </a:p>
          <a:p>
            <a:pPr algn="l">
              <a:defRPr sz="1725" b="0">
                <a:solidFill>
                  <a:srgbClr val="CBD5E1"/>
                </a:solidFill>
                <a:latin typeface="Aptos"/>
                <a:ea typeface="Aptos"/>
                <a:cs typeface="Aptos"/>
              </a:defRPr>
            </a:pPr>
            <a:r>
              <a:rPr sz="1725" b="0">
                <a:solidFill>
                  <a:srgbClr val="CBD5E1"/>
                </a:solidFill>
                <a:latin typeface="Aptos"/>
                <a:ea typeface="Aptos"/>
                <a:cs typeface="Aptos"/>
              </a:rPr>
              <a:t>• Memory Leak</a:t>
            </a:r>
          </a:p>
          <a:p>
            <a:pPr algn="l">
              <a:defRPr sz="1725" b="0">
                <a:solidFill>
                  <a:srgbClr val="CBD5E1"/>
                </a:solidFill>
                <a:latin typeface="Aptos"/>
                <a:ea typeface="Aptos"/>
                <a:cs typeface="Aptos"/>
              </a:defRPr>
            </a:pPr>
            <a:r>
              <a:rPr sz="1725" b="0">
                <a:solidFill>
                  <a:srgbClr val="CBD5E1"/>
                </a:solidFill>
                <a:latin typeface="Aptos"/>
                <a:ea typeface="Aptos"/>
                <a:cs typeface="Aptos"/>
              </a:rPr>
              <a:t>• Cascading Timeout</a:t>
            </a:r>
          </a:p>
        </p:txBody>
      </p:sp>
      <p:sp>
        <p:nvSpPr>
          <p:cNvPr id="9" name="Rectangle 8">
            <a:extLst>
              <a:ext uri="{FF2B5EF4-FFF2-40B4-BE49-F238E27FC236}">
                <a16:creationId xmlns:a16="http://schemas.microsoft.com/office/drawing/2014/main" id="{3D8D9444-F33C-409F-BFB4-5AEEE024F3A3}"/>
              </a:ext>
            </a:extLst>
          </p:cNvPr>
          <p:cNvSpPr>
            <a:spLocks noGrp="1"/>
          </p:cNvSpPr>
          <p:nvPr/>
        </p:nvSpPr>
        <p:spPr>
          <a:xfrm>
            <a:off x="971550" y="4619625"/>
            <a:ext cx="3905250" cy="361950"/>
          </a:xfrm>
          <a:prstGeom prst="rect">
            <a:avLst/>
          </a:prstGeom>
          <a:noFill/>
          <a:ln w="0">
            <a:noFill/>
            <a:prstDash val="solid"/>
          </a:ln>
        </p:spPr>
        <p:txBody>
          <a:bodyPr anchor="t"/>
          <a:lstStyle/>
          <a:p>
            <a:pPr algn="l">
              <a:defRPr sz="1425" b="1">
                <a:solidFill>
                  <a:srgbClr val="38BDF8"/>
                </a:solidFill>
                <a:latin typeface="Aptos"/>
                <a:ea typeface="Aptos"/>
                <a:cs typeface="Aptos"/>
              </a:defRPr>
            </a:pPr>
            <a:r>
              <a:rPr sz="1425" b="1">
                <a:solidFill>
                  <a:srgbClr val="38BDF8"/>
                </a:solidFill>
                <a:latin typeface="Aptos"/>
                <a:ea typeface="Aptos"/>
                <a:cs typeface="Aptos"/>
              </a:rPr>
              <a:t>Action Queue: agents running, needs review, reviewed</a:t>
            </a:r>
          </a:p>
        </p:txBody>
      </p:sp>
      <p:sp>
        <p:nvSpPr>
          <p:cNvPr id="10" name="Rectangle: Rounded Corners 9">
            <a:extLst>
              <a:ext uri="{FF2B5EF4-FFF2-40B4-BE49-F238E27FC236}">
                <a16:creationId xmlns:a16="http://schemas.microsoft.com/office/drawing/2014/main" id="{A6DE9F6B-8F43-4663-8188-4FF13F73335E}"/>
              </a:ext>
            </a:extLst>
          </p:cNvPr>
          <p:cNvSpPr>
            <a:spLocks noGrp="1"/>
          </p:cNvSpPr>
          <p:nvPr/>
        </p:nvSpPr>
        <p:spPr>
          <a:xfrm>
            <a:off x="6524625" y="2381250"/>
            <a:ext cx="4953000" cy="2952750"/>
          </a:xfrm>
          <a:prstGeom prst="roundRect">
            <a:avLst>
              <a:gd name="adj" fmla="val 1935"/>
            </a:avLst>
          </a:prstGeom>
          <a:solidFill>
            <a:srgbClr val="F8FAFC"/>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2A7E09A6-674B-4719-BC14-B0E29546883D}"/>
              </a:ext>
            </a:extLst>
          </p:cNvPr>
          <p:cNvSpPr>
            <a:spLocks noGrp="1"/>
          </p:cNvSpPr>
          <p:nvPr/>
        </p:nvSpPr>
        <p:spPr>
          <a:xfrm>
            <a:off x="6858000" y="2686050"/>
            <a:ext cx="2857500" cy="361950"/>
          </a:xfrm>
          <a:prstGeom prst="rect">
            <a:avLst/>
          </a:prstGeom>
          <a:noFill/>
          <a:ln w="0">
            <a:noFill/>
            <a:prstDash val="solid"/>
          </a:ln>
        </p:spPr>
        <p:txBody>
          <a:bodyPr anchor="t"/>
          <a:lstStyle/>
          <a:p>
            <a:pPr algn="l">
              <a:defRPr sz="2100" b="1">
                <a:solidFill>
                  <a:srgbClr val="0F172A"/>
                </a:solidFill>
                <a:latin typeface="Aptos"/>
                <a:ea typeface="Aptos"/>
                <a:cs typeface="Aptos"/>
              </a:defRPr>
            </a:pPr>
            <a:r>
              <a:rPr sz="2100" b="1">
                <a:solidFill>
                  <a:srgbClr val="0F172A"/>
                </a:solidFill>
                <a:latin typeface="Aptos"/>
                <a:ea typeface="Aptos"/>
                <a:cs typeface="Aptos"/>
              </a:rPr>
              <a:t>Operator benefits</a:t>
            </a:r>
          </a:p>
        </p:txBody>
      </p:sp>
      <p:sp>
        <p:nvSpPr>
          <p:cNvPr id="12" name="Rectangle: Rounded Corners 11">
            <a:extLst>
              <a:ext uri="{FF2B5EF4-FFF2-40B4-BE49-F238E27FC236}">
                <a16:creationId xmlns:a16="http://schemas.microsoft.com/office/drawing/2014/main" id="{6BAE43D1-A056-44E2-861D-6935D7D2BF8A}"/>
              </a:ext>
            </a:extLst>
          </p:cNvPr>
          <p:cNvSpPr>
            <a:spLocks noGrp="1"/>
          </p:cNvSpPr>
          <p:nvPr/>
        </p:nvSpPr>
        <p:spPr>
          <a:xfrm>
            <a:off x="6858000" y="3371850"/>
            <a:ext cx="209550" cy="209550"/>
          </a:xfrm>
          <a:prstGeom prst="roundRect">
            <a:avLst>
              <a:gd name="adj" fmla="val 50000"/>
            </a:avLst>
          </a:prstGeom>
          <a:solidFill>
            <a:srgbClr val="2563EB"/>
          </a:solidFill>
          <a:ln w="9525">
            <a:solidFill>
              <a:srgbClr val="2563EB"/>
            </a:solidFill>
            <a:prstDash val="solid"/>
          </a:ln>
        </p:spPr>
        <p:txBody>
          <a:bodyPr/>
          <a:lstStyle/>
          <a:p>
            <a:endParaRPr lang="en-US"/>
          </a:p>
        </p:txBody>
      </p:sp>
      <p:sp>
        <p:nvSpPr>
          <p:cNvPr id="13" name="Rectangle 12">
            <a:extLst>
              <a:ext uri="{FF2B5EF4-FFF2-40B4-BE49-F238E27FC236}">
                <a16:creationId xmlns:a16="http://schemas.microsoft.com/office/drawing/2014/main" id="{480BE7C2-60C0-489A-960B-ED3F3B368908}"/>
              </a:ext>
            </a:extLst>
          </p:cNvPr>
          <p:cNvSpPr>
            <a:spLocks noGrp="1"/>
          </p:cNvSpPr>
          <p:nvPr/>
        </p:nvSpPr>
        <p:spPr>
          <a:xfrm>
            <a:off x="7219950" y="3333750"/>
            <a:ext cx="39052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Scenario launch</a:t>
            </a:r>
          </a:p>
        </p:txBody>
      </p:sp>
      <p:sp>
        <p:nvSpPr>
          <p:cNvPr id="14" name="Rectangle 13">
            <a:extLst>
              <a:ext uri="{FF2B5EF4-FFF2-40B4-BE49-F238E27FC236}">
                <a16:creationId xmlns:a16="http://schemas.microsoft.com/office/drawing/2014/main" id="{5E8667C4-A556-4FDF-AEC5-33DDFEDE36FE}"/>
              </a:ext>
            </a:extLst>
          </p:cNvPr>
          <p:cNvSpPr>
            <a:spLocks noGrp="1"/>
          </p:cNvSpPr>
          <p:nvPr/>
        </p:nvSpPr>
        <p:spPr>
          <a:xfrm>
            <a:off x="7219950" y="3619500"/>
            <a:ext cx="390525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One click creates a realistic critical incident.</a:t>
            </a:r>
          </a:p>
        </p:txBody>
      </p:sp>
      <p:sp>
        <p:nvSpPr>
          <p:cNvPr id="15" name="Rectangle: Rounded Corners 14">
            <a:extLst>
              <a:ext uri="{FF2B5EF4-FFF2-40B4-BE49-F238E27FC236}">
                <a16:creationId xmlns:a16="http://schemas.microsoft.com/office/drawing/2014/main" id="{77B9DDC2-14A8-43FA-98FD-F6AAA8A68F67}"/>
              </a:ext>
            </a:extLst>
          </p:cNvPr>
          <p:cNvSpPr>
            <a:spLocks noGrp="1"/>
          </p:cNvSpPr>
          <p:nvPr/>
        </p:nvSpPr>
        <p:spPr>
          <a:xfrm>
            <a:off x="6858000" y="3924300"/>
            <a:ext cx="209550" cy="209550"/>
          </a:xfrm>
          <a:prstGeom prst="roundRect">
            <a:avLst>
              <a:gd name="adj" fmla="val 50000"/>
            </a:avLst>
          </a:prstGeom>
          <a:solidFill>
            <a:srgbClr val="2563EB"/>
          </a:solidFill>
          <a:ln w="9525">
            <a:solidFill>
              <a:srgbClr val="2563EB"/>
            </a:solidFill>
            <a:prstDash val="solid"/>
          </a:ln>
        </p:spPr>
        <p:txBody>
          <a:bodyPr/>
          <a:lstStyle/>
          <a:p>
            <a:endParaRPr lang="en-US"/>
          </a:p>
        </p:txBody>
      </p:sp>
      <p:sp>
        <p:nvSpPr>
          <p:cNvPr id="16" name="Rectangle 15">
            <a:extLst>
              <a:ext uri="{FF2B5EF4-FFF2-40B4-BE49-F238E27FC236}">
                <a16:creationId xmlns:a16="http://schemas.microsoft.com/office/drawing/2014/main" id="{12A0B728-6871-4010-B804-3CDC570EEDC5}"/>
              </a:ext>
            </a:extLst>
          </p:cNvPr>
          <p:cNvSpPr>
            <a:spLocks noGrp="1"/>
          </p:cNvSpPr>
          <p:nvPr/>
        </p:nvSpPr>
        <p:spPr>
          <a:xfrm>
            <a:off x="7219950" y="3886200"/>
            <a:ext cx="39052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Live status</a:t>
            </a:r>
          </a:p>
        </p:txBody>
      </p:sp>
      <p:sp>
        <p:nvSpPr>
          <p:cNvPr id="17" name="Rectangle 16">
            <a:extLst>
              <a:ext uri="{FF2B5EF4-FFF2-40B4-BE49-F238E27FC236}">
                <a16:creationId xmlns:a16="http://schemas.microsoft.com/office/drawing/2014/main" id="{A67CBE11-331A-4D6B-BB82-8AD7F83A276D}"/>
              </a:ext>
            </a:extLst>
          </p:cNvPr>
          <p:cNvSpPr>
            <a:spLocks noGrp="1"/>
          </p:cNvSpPr>
          <p:nvPr/>
        </p:nvSpPr>
        <p:spPr>
          <a:xfrm>
            <a:off x="7219950" y="4171950"/>
            <a:ext cx="390525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Polling shows agent progress without manual refresh.</a:t>
            </a:r>
          </a:p>
        </p:txBody>
      </p:sp>
      <p:sp>
        <p:nvSpPr>
          <p:cNvPr id="18" name="Rectangle: Rounded Corners 17">
            <a:extLst>
              <a:ext uri="{FF2B5EF4-FFF2-40B4-BE49-F238E27FC236}">
                <a16:creationId xmlns:a16="http://schemas.microsoft.com/office/drawing/2014/main" id="{B832167D-518B-483A-A3DC-401E14810430}"/>
              </a:ext>
            </a:extLst>
          </p:cNvPr>
          <p:cNvSpPr>
            <a:spLocks noGrp="1"/>
          </p:cNvSpPr>
          <p:nvPr/>
        </p:nvSpPr>
        <p:spPr>
          <a:xfrm>
            <a:off x="6858000" y="4476750"/>
            <a:ext cx="209550" cy="209550"/>
          </a:xfrm>
          <a:prstGeom prst="roundRect">
            <a:avLst>
              <a:gd name="adj" fmla="val 50000"/>
            </a:avLst>
          </a:prstGeom>
          <a:solidFill>
            <a:srgbClr val="2563EB"/>
          </a:solidFill>
          <a:ln w="9525">
            <a:solidFill>
              <a:srgbClr val="2563EB"/>
            </a:solidFill>
            <a:prstDash val="solid"/>
          </a:ln>
        </p:spPr>
        <p:txBody>
          <a:bodyPr/>
          <a:lstStyle/>
          <a:p>
            <a:endParaRPr lang="en-US"/>
          </a:p>
        </p:txBody>
      </p:sp>
      <p:sp>
        <p:nvSpPr>
          <p:cNvPr id="19" name="Rectangle 18">
            <a:extLst>
              <a:ext uri="{FF2B5EF4-FFF2-40B4-BE49-F238E27FC236}">
                <a16:creationId xmlns:a16="http://schemas.microsoft.com/office/drawing/2014/main" id="{4398C55C-2C05-4E2D-81F8-5D9AC8F3AC77}"/>
              </a:ext>
            </a:extLst>
          </p:cNvPr>
          <p:cNvSpPr>
            <a:spLocks noGrp="1"/>
          </p:cNvSpPr>
          <p:nvPr/>
        </p:nvSpPr>
        <p:spPr>
          <a:xfrm>
            <a:off x="7219950" y="4438650"/>
            <a:ext cx="39052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Queue hygiene</a:t>
            </a:r>
          </a:p>
        </p:txBody>
      </p:sp>
      <p:sp>
        <p:nvSpPr>
          <p:cNvPr id="20" name="Rectangle 19">
            <a:extLst>
              <a:ext uri="{FF2B5EF4-FFF2-40B4-BE49-F238E27FC236}">
                <a16:creationId xmlns:a16="http://schemas.microsoft.com/office/drawing/2014/main" id="{AA44729F-F76B-4C98-9013-4E758F73868A}"/>
              </a:ext>
            </a:extLst>
          </p:cNvPr>
          <p:cNvSpPr>
            <a:spLocks noGrp="1"/>
          </p:cNvSpPr>
          <p:nvPr/>
        </p:nvSpPr>
        <p:spPr>
          <a:xfrm>
            <a:off x="7219950" y="4724400"/>
            <a:ext cx="3905250" cy="41910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Completed duplicate runs move into history.</a:t>
            </a:r>
          </a:p>
        </p:txBody>
      </p:sp>
    </p:spTree>
    <p:extLst>
      <p:ext uri="{BB962C8B-B14F-4D97-AF65-F5344CB8AC3E}">
        <p14:creationId xmlns:p14="http://schemas.microsoft.com/office/powerpoint/2010/main" val="300045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D3E8BA5-1B30-4B56-9277-7F30F4435913}"/>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RCA AND EVIDENCE</a:t>
            </a:r>
          </a:p>
        </p:txBody>
      </p:sp>
      <p:sp>
        <p:nvSpPr>
          <p:cNvPr id="2" name="Rectangle 1">
            <a:extLst>
              <a:ext uri="{FF2B5EF4-FFF2-40B4-BE49-F238E27FC236}">
                <a16:creationId xmlns:a16="http://schemas.microsoft.com/office/drawing/2014/main" id="{C6EB8E45-157C-4771-8EA5-CC9AEF379D9A}"/>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The incident detail page explains what the agents believe and why.</a:t>
            </a:r>
          </a:p>
        </p:txBody>
      </p:sp>
      <p:sp>
        <p:nvSpPr>
          <p:cNvPr id="3" name="Rectangle 2">
            <a:extLst>
              <a:ext uri="{FF2B5EF4-FFF2-40B4-BE49-F238E27FC236}">
                <a16:creationId xmlns:a16="http://schemas.microsoft.com/office/drawing/2014/main" id="{78A8D6D2-07F2-43C3-98DE-48125E7FB05F}"/>
              </a:ext>
            </a:extLst>
          </p:cNvPr>
          <p:cNvSpPr>
            <a:spLocks noGrp="1"/>
          </p:cNvSpPr>
          <p:nvPr/>
        </p:nvSpPr>
        <p:spPr>
          <a:xfrm>
            <a:off x="419100" y="1581150"/>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a:solidFill>
                  <a:srgbClr val="64748B"/>
                </a:solidFill>
                <a:latin typeface="Aptos"/>
                <a:ea typeface="Aptos"/>
                <a:cs typeface="Aptos"/>
              </a:rPr>
              <a:t>The operator can switch between overview, evidence, review, and trace tabs without leaving the incident context.</a:t>
            </a:r>
          </a:p>
        </p:txBody>
      </p:sp>
      <p:sp>
        <p:nvSpPr>
          <p:cNvPr id="4" name="Rectangle 3">
            <a:extLst>
              <a:ext uri="{FF2B5EF4-FFF2-40B4-BE49-F238E27FC236}">
                <a16:creationId xmlns:a16="http://schemas.microsoft.com/office/drawing/2014/main" id="{D4D57649-E1BF-4208-BDFB-21AE8296734D}"/>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73AF0310-222B-4255-8316-D72AE396A417}"/>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07</a:t>
            </a:r>
          </a:p>
        </p:txBody>
      </p:sp>
      <p:sp>
        <p:nvSpPr>
          <p:cNvPr id="6" name="Rectangle: Rounded Corners 5">
            <a:extLst>
              <a:ext uri="{FF2B5EF4-FFF2-40B4-BE49-F238E27FC236}">
                <a16:creationId xmlns:a16="http://schemas.microsoft.com/office/drawing/2014/main" id="{AEA693CE-4695-4E8F-BD16-FF123F9099E3}"/>
              </a:ext>
            </a:extLst>
          </p:cNvPr>
          <p:cNvSpPr>
            <a:spLocks noGrp="1"/>
          </p:cNvSpPr>
          <p:nvPr/>
        </p:nvSpPr>
        <p:spPr>
          <a:xfrm>
            <a:off x="714375" y="2524125"/>
            <a:ext cx="4762500" cy="1190625"/>
          </a:xfrm>
          <a:prstGeom prst="roundRect">
            <a:avLst>
              <a:gd name="adj" fmla="val 4800"/>
            </a:avLst>
          </a:prstGeom>
          <a:solidFill>
            <a:srgbClr val="F8FAFC"/>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0EA00B8D-0BDD-440C-B8AB-D494C0A5E387}"/>
              </a:ext>
            </a:extLst>
          </p:cNvPr>
          <p:cNvSpPr>
            <a:spLocks noGrp="1"/>
          </p:cNvSpPr>
          <p:nvPr/>
        </p:nvSpPr>
        <p:spPr>
          <a:xfrm>
            <a:off x="923925" y="2695575"/>
            <a:ext cx="1619250" cy="323850"/>
          </a:xfrm>
          <a:prstGeom prst="rect">
            <a:avLst/>
          </a:prstGeom>
          <a:noFill/>
          <a:ln w="0">
            <a:noFill/>
            <a:prstDash val="solid"/>
          </a:ln>
        </p:spPr>
        <p:txBody>
          <a:bodyPr anchor="t"/>
          <a:lstStyle/>
          <a:p>
            <a:pPr algn="l">
              <a:defRPr sz="2025" b="1">
                <a:solidFill>
                  <a:srgbClr val="2563EB"/>
                </a:solidFill>
                <a:latin typeface="Aptos"/>
                <a:ea typeface="Aptos"/>
                <a:cs typeface="Aptos"/>
              </a:defRPr>
            </a:pPr>
            <a:r>
              <a:rPr sz="2025" b="1">
                <a:solidFill>
                  <a:srgbClr val="2563EB"/>
                </a:solidFill>
                <a:latin typeface="Aptos"/>
                <a:ea typeface="Aptos"/>
                <a:cs typeface="Aptos"/>
              </a:rPr>
              <a:t>Overview</a:t>
            </a:r>
          </a:p>
        </p:txBody>
      </p:sp>
      <p:sp>
        <p:nvSpPr>
          <p:cNvPr id="8" name="Rectangle 7">
            <a:extLst>
              <a:ext uri="{FF2B5EF4-FFF2-40B4-BE49-F238E27FC236}">
                <a16:creationId xmlns:a16="http://schemas.microsoft.com/office/drawing/2014/main" id="{022DDF78-A8F3-432F-8013-F96EA0A80925}"/>
              </a:ext>
            </a:extLst>
          </p:cNvPr>
          <p:cNvSpPr>
            <a:spLocks noGrp="1"/>
          </p:cNvSpPr>
          <p:nvPr/>
        </p:nvSpPr>
        <p:spPr>
          <a:xfrm>
            <a:off x="923925" y="3076575"/>
            <a:ext cx="4191000" cy="45720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Root-cause hypothesis, confidence, deployment correlation, executive summary, engineering notes</a:t>
            </a:r>
          </a:p>
        </p:txBody>
      </p:sp>
      <p:sp>
        <p:nvSpPr>
          <p:cNvPr id="9" name="Rectangle: Rounded Corners 8">
            <a:extLst>
              <a:ext uri="{FF2B5EF4-FFF2-40B4-BE49-F238E27FC236}">
                <a16:creationId xmlns:a16="http://schemas.microsoft.com/office/drawing/2014/main" id="{4996538D-D4EC-4368-BAAA-E1140E55CF18}"/>
              </a:ext>
            </a:extLst>
          </p:cNvPr>
          <p:cNvSpPr>
            <a:spLocks noGrp="1"/>
          </p:cNvSpPr>
          <p:nvPr/>
        </p:nvSpPr>
        <p:spPr>
          <a:xfrm>
            <a:off x="6143625" y="2524125"/>
            <a:ext cx="4762500" cy="1190625"/>
          </a:xfrm>
          <a:prstGeom prst="roundRect">
            <a:avLst>
              <a:gd name="adj" fmla="val 4800"/>
            </a:avLst>
          </a:prstGeom>
          <a:solidFill>
            <a:srgbClr val="F8FAFC"/>
          </a:solidFill>
          <a:ln w="9525">
            <a:solidFill>
              <a:srgbClr val="CBD5E1"/>
            </a:solidFill>
            <a:prstDash val="solid"/>
          </a:ln>
        </p:spPr>
        <p:txBody>
          <a:bodyPr/>
          <a:lstStyle/>
          <a:p>
            <a:endParaRPr lang="en-US"/>
          </a:p>
        </p:txBody>
      </p:sp>
      <p:sp>
        <p:nvSpPr>
          <p:cNvPr id="10" name="Rectangle 9">
            <a:extLst>
              <a:ext uri="{FF2B5EF4-FFF2-40B4-BE49-F238E27FC236}">
                <a16:creationId xmlns:a16="http://schemas.microsoft.com/office/drawing/2014/main" id="{3B7E0F48-5F1B-4299-876D-88B749C242FD}"/>
              </a:ext>
            </a:extLst>
          </p:cNvPr>
          <p:cNvSpPr>
            <a:spLocks noGrp="1"/>
          </p:cNvSpPr>
          <p:nvPr/>
        </p:nvSpPr>
        <p:spPr>
          <a:xfrm>
            <a:off x="6353175" y="2695575"/>
            <a:ext cx="1619250" cy="323850"/>
          </a:xfrm>
          <a:prstGeom prst="rect">
            <a:avLst/>
          </a:prstGeom>
          <a:noFill/>
          <a:ln w="0">
            <a:noFill/>
            <a:prstDash val="solid"/>
          </a:ln>
        </p:spPr>
        <p:txBody>
          <a:bodyPr anchor="t"/>
          <a:lstStyle/>
          <a:p>
            <a:pPr algn="l">
              <a:defRPr sz="2025" b="1">
                <a:solidFill>
                  <a:srgbClr val="0891B2"/>
                </a:solidFill>
                <a:latin typeface="Aptos"/>
                <a:ea typeface="Aptos"/>
                <a:cs typeface="Aptos"/>
              </a:defRPr>
            </a:pPr>
            <a:r>
              <a:rPr sz="2025" b="1">
                <a:solidFill>
                  <a:srgbClr val="0891B2"/>
                </a:solidFill>
                <a:latin typeface="Aptos"/>
                <a:ea typeface="Aptos"/>
                <a:cs typeface="Aptos"/>
              </a:rPr>
              <a:t>Evidence</a:t>
            </a:r>
          </a:p>
        </p:txBody>
      </p:sp>
      <p:sp>
        <p:nvSpPr>
          <p:cNvPr id="11" name="Rectangle 10">
            <a:extLst>
              <a:ext uri="{FF2B5EF4-FFF2-40B4-BE49-F238E27FC236}">
                <a16:creationId xmlns:a16="http://schemas.microsoft.com/office/drawing/2014/main" id="{8AE52BBC-BBA2-4756-ADE3-954848240CE6}"/>
              </a:ext>
            </a:extLst>
          </p:cNvPr>
          <p:cNvSpPr>
            <a:spLocks noGrp="1"/>
          </p:cNvSpPr>
          <p:nvPr/>
        </p:nvSpPr>
        <p:spPr>
          <a:xfrm>
            <a:off x="6353175" y="3076575"/>
            <a:ext cx="4191000" cy="45720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Claim-to-fact mapping through supporting evidence references and raw catalog entries</a:t>
            </a:r>
          </a:p>
        </p:txBody>
      </p:sp>
      <p:sp>
        <p:nvSpPr>
          <p:cNvPr id="12" name="Rectangle: Rounded Corners 11">
            <a:extLst>
              <a:ext uri="{FF2B5EF4-FFF2-40B4-BE49-F238E27FC236}">
                <a16:creationId xmlns:a16="http://schemas.microsoft.com/office/drawing/2014/main" id="{C42ABAC8-8E71-4476-A009-FC5C82E0901C}"/>
              </a:ext>
            </a:extLst>
          </p:cNvPr>
          <p:cNvSpPr>
            <a:spLocks noGrp="1"/>
          </p:cNvSpPr>
          <p:nvPr/>
        </p:nvSpPr>
        <p:spPr>
          <a:xfrm>
            <a:off x="714375" y="4048125"/>
            <a:ext cx="4762500" cy="1190625"/>
          </a:xfrm>
          <a:prstGeom prst="roundRect">
            <a:avLst>
              <a:gd name="adj" fmla="val 4800"/>
            </a:avLst>
          </a:prstGeom>
          <a:solidFill>
            <a:srgbClr val="F8FAFC"/>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6CA265E6-49ED-462A-B643-C35295AE7904}"/>
              </a:ext>
            </a:extLst>
          </p:cNvPr>
          <p:cNvSpPr>
            <a:spLocks noGrp="1"/>
          </p:cNvSpPr>
          <p:nvPr/>
        </p:nvSpPr>
        <p:spPr>
          <a:xfrm>
            <a:off x="923925" y="4219575"/>
            <a:ext cx="1619250" cy="323850"/>
          </a:xfrm>
          <a:prstGeom prst="rect">
            <a:avLst/>
          </a:prstGeom>
          <a:noFill/>
          <a:ln w="0">
            <a:noFill/>
            <a:prstDash val="solid"/>
          </a:ln>
        </p:spPr>
        <p:txBody>
          <a:bodyPr anchor="t"/>
          <a:lstStyle/>
          <a:p>
            <a:pPr algn="l">
              <a:defRPr sz="2025" b="1">
                <a:solidFill>
                  <a:srgbClr val="16A34A"/>
                </a:solidFill>
                <a:latin typeface="Aptos"/>
                <a:ea typeface="Aptos"/>
                <a:cs typeface="Aptos"/>
              </a:defRPr>
            </a:pPr>
            <a:r>
              <a:rPr sz="2025" b="1">
                <a:solidFill>
                  <a:srgbClr val="16A34A"/>
                </a:solidFill>
                <a:latin typeface="Aptos"/>
                <a:ea typeface="Aptos"/>
                <a:cs typeface="Aptos"/>
              </a:rPr>
              <a:t>Review</a:t>
            </a:r>
          </a:p>
        </p:txBody>
      </p:sp>
      <p:sp>
        <p:nvSpPr>
          <p:cNvPr id="14" name="Rectangle 13">
            <a:extLst>
              <a:ext uri="{FF2B5EF4-FFF2-40B4-BE49-F238E27FC236}">
                <a16:creationId xmlns:a16="http://schemas.microsoft.com/office/drawing/2014/main" id="{0C090CE8-C3C9-464A-AA2B-E6BA730A45FC}"/>
              </a:ext>
            </a:extLst>
          </p:cNvPr>
          <p:cNvSpPr>
            <a:spLocks noGrp="1"/>
          </p:cNvSpPr>
          <p:nvPr/>
        </p:nvSpPr>
        <p:spPr>
          <a:xfrm>
            <a:off x="923925" y="4600575"/>
            <a:ext cx="4191000" cy="45720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Human decisions, quality gates, recommendations, remediation approval, incident Q&amp;A</a:t>
            </a:r>
          </a:p>
        </p:txBody>
      </p:sp>
      <p:sp>
        <p:nvSpPr>
          <p:cNvPr id="15" name="Rectangle: Rounded Corners 14">
            <a:extLst>
              <a:ext uri="{FF2B5EF4-FFF2-40B4-BE49-F238E27FC236}">
                <a16:creationId xmlns:a16="http://schemas.microsoft.com/office/drawing/2014/main" id="{FDA73BE3-89E6-4362-8FEF-B63B1A6F9998}"/>
              </a:ext>
            </a:extLst>
          </p:cNvPr>
          <p:cNvSpPr>
            <a:spLocks noGrp="1"/>
          </p:cNvSpPr>
          <p:nvPr/>
        </p:nvSpPr>
        <p:spPr>
          <a:xfrm>
            <a:off x="6143625" y="4048125"/>
            <a:ext cx="4762500" cy="1190625"/>
          </a:xfrm>
          <a:prstGeom prst="roundRect">
            <a:avLst>
              <a:gd name="adj" fmla="val 4800"/>
            </a:avLst>
          </a:prstGeom>
          <a:solidFill>
            <a:srgbClr val="F8FAFC"/>
          </a:solidFill>
          <a:ln w="9525">
            <a:solidFill>
              <a:srgbClr val="CBD5E1"/>
            </a:solidFill>
            <a:prstDash val="solid"/>
          </a:ln>
        </p:spPr>
        <p:txBody>
          <a:bodyPr/>
          <a:lstStyle/>
          <a:p>
            <a:endParaRPr lang="en-US"/>
          </a:p>
        </p:txBody>
      </p:sp>
      <p:sp>
        <p:nvSpPr>
          <p:cNvPr id="16" name="Rectangle 15">
            <a:extLst>
              <a:ext uri="{FF2B5EF4-FFF2-40B4-BE49-F238E27FC236}">
                <a16:creationId xmlns:a16="http://schemas.microsoft.com/office/drawing/2014/main" id="{878661F3-564D-4674-A1AC-69F046B361FE}"/>
              </a:ext>
            </a:extLst>
          </p:cNvPr>
          <p:cNvSpPr>
            <a:spLocks noGrp="1"/>
          </p:cNvSpPr>
          <p:nvPr/>
        </p:nvSpPr>
        <p:spPr>
          <a:xfrm>
            <a:off x="6353175" y="4219575"/>
            <a:ext cx="1619250" cy="323850"/>
          </a:xfrm>
          <a:prstGeom prst="rect">
            <a:avLst/>
          </a:prstGeom>
          <a:noFill/>
          <a:ln w="0">
            <a:noFill/>
            <a:prstDash val="solid"/>
          </a:ln>
        </p:spPr>
        <p:txBody>
          <a:bodyPr anchor="t"/>
          <a:lstStyle/>
          <a:p>
            <a:pPr algn="l">
              <a:defRPr sz="2025" b="1">
                <a:solidFill>
                  <a:srgbClr val="EA580C"/>
                </a:solidFill>
                <a:latin typeface="Aptos"/>
                <a:ea typeface="Aptos"/>
                <a:cs typeface="Aptos"/>
              </a:defRPr>
            </a:pPr>
            <a:r>
              <a:rPr sz="2025" b="1">
                <a:solidFill>
                  <a:srgbClr val="EA580C"/>
                </a:solidFill>
                <a:latin typeface="Aptos"/>
                <a:ea typeface="Aptos"/>
                <a:cs typeface="Aptos"/>
              </a:rPr>
              <a:t>Trace</a:t>
            </a:r>
          </a:p>
        </p:txBody>
      </p:sp>
      <p:sp>
        <p:nvSpPr>
          <p:cNvPr id="17" name="Rectangle 16">
            <a:extLst>
              <a:ext uri="{FF2B5EF4-FFF2-40B4-BE49-F238E27FC236}">
                <a16:creationId xmlns:a16="http://schemas.microsoft.com/office/drawing/2014/main" id="{808D4BB5-5A65-4581-8AEC-4AB369B3DDDB}"/>
              </a:ext>
            </a:extLst>
          </p:cNvPr>
          <p:cNvSpPr>
            <a:spLocks noGrp="1"/>
          </p:cNvSpPr>
          <p:nvPr/>
        </p:nvSpPr>
        <p:spPr>
          <a:xfrm>
            <a:off x="6353175" y="4600575"/>
            <a:ext cx="4191000" cy="457200"/>
          </a:xfrm>
          <a:prstGeom prst="rect">
            <a:avLst/>
          </a:prstGeom>
          <a:noFill/>
          <a:ln w="0">
            <a:noFill/>
            <a:prstDash val="solid"/>
          </a:ln>
        </p:spPr>
        <p:txBody>
          <a:bodyPr anchor="t"/>
          <a:lstStyle/>
          <a:p>
            <a:pPr algn="l">
              <a:defRPr sz="1275" b="0">
                <a:solidFill>
                  <a:srgbClr val="64748B"/>
                </a:solidFill>
                <a:latin typeface="Aptos"/>
                <a:ea typeface="Aptos"/>
                <a:cs typeface="Aptos"/>
              </a:defRPr>
            </a:pPr>
            <a:r>
              <a:rPr sz="1275" b="0">
                <a:solidFill>
                  <a:srgbClr val="64748B"/>
                </a:solidFill>
                <a:latin typeface="Aptos"/>
                <a:ea typeface="Aptos"/>
                <a:cs typeface="Aptos"/>
              </a:rPr>
              <a:t>Agent spans with reasoning, action, source, latency, span id, and parent span id</a:t>
            </a:r>
          </a:p>
        </p:txBody>
      </p:sp>
    </p:spTree>
    <p:extLst>
      <p:ext uri="{BB962C8B-B14F-4D97-AF65-F5344CB8AC3E}">
        <p14:creationId xmlns:p14="http://schemas.microsoft.com/office/powerpoint/2010/main" val="1045534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481F92F-9459-4053-B632-0E1CAD01304A}"/>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HUMAN-IN-THE-LOOP GOVERNANCE</a:t>
            </a:r>
          </a:p>
        </p:txBody>
      </p:sp>
      <p:sp>
        <p:nvSpPr>
          <p:cNvPr id="2" name="Rectangle 1">
            <a:extLst>
              <a:ext uri="{FF2B5EF4-FFF2-40B4-BE49-F238E27FC236}">
                <a16:creationId xmlns:a16="http://schemas.microsoft.com/office/drawing/2014/main" id="{FA592640-DF4C-46D4-A8EA-1769E3AE8FCD}"/>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Automation proposes; the reviewer decides.</a:t>
            </a:r>
          </a:p>
        </p:txBody>
      </p:sp>
      <p:sp>
        <p:nvSpPr>
          <p:cNvPr id="3" name="Rectangle 2">
            <a:extLst>
              <a:ext uri="{FF2B5EF4-FFF2-40B4-BE49-F238E27FC236}">
                <a16:creationId xmlns:a16="http://schemas.microsoft.com/office/drawing/2014/main" id="{57BBC2C2-5EB9-4694-B70D-3F1C65862384}"/>
              </a:ext>
            </a:extLst>
          </p:cNvPr>
          <p:cNvSpPr>
            <a:spLocks noGrp="1"/>
          </p:cNvSpPr>
          <p:nvPr/>
        </p:nvSpPr>
        <p:spPr>
          <a:xfrm>
            <a:off x="419100" y="1581150"/>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a:solidFill>
                  <a:srgbClr val="64748B"/>
                </a:solidFill>
                <a:latin typeface="Aptos"/>
                <a:ea typeface="Aptos"/>
                <a:cs typeface="Aptos"/>
              </a:rPr>
              <a:t>Every governance action is routed through explicit review endpoints and captured as part of the incident record.</a:t>
            </a:r>
          </a:p>
        </p:txBody>
      </p:sp>
      <p:sp>
        <p:nvSpPr>
          <p:cNvPr id="4" name="Rectangle 3">
            <a:extLst>
              <a:ext uri="{FF2B5EF4-FFF2-40B4-BE49-F238E27FC236}">
                <a16:creationId xmlns:a16="http://schemas.microsoft.com/office/drawing/2014/main" id="{A5F0971D-4A2F-405A-AC1C-8ACDD388736B}"/>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FAC654F2-55E6-407D-83C2-775793424535}"/>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08</a:t>
            </a:r>
          </a:p>
        </p:txBody>
      </p:sp>
      <p:sp>
        <p:nvSpPr>
          <p:cNvPr id="6" name="Rectangle: Rounded Corners 5">
            <a:extLst>
              <a:ext uri="{FF2B5EF4-FFF2-40B4-BE49-F238E27FC236}">
                <a16:creationId xmlns:a16="http://schemas.microsoft.com/office/drawing/2014/main" id="{B8576A4B-5F08-434C-A8FD-0CAF9B639FF2}"/>
              </a:ext>
            </a:extLst>
          </p:cNvPr>
          <p:cNvSpPr>
            <a:spLocks noGrp="1"/>
          </p:cNvSpPr>
          <p:nvPr/>
        </p:nvSpPr>
        <p:spPr>
          <a:xfrm>
            <a:off x="685800" y="2307430"/>
            <a:ext cx="4286250" cy="571501"/>
          </a:xfrm>
          <a:prstGeom prst="roundRect">
            <a:avLst>
              <a:gd name="adj" fmla="val 12500"/>
            </a:avLst>
          </a:prstGeom>
          <a:solidFill>
            <a:srgbClr val="FFFFFF"/>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376A7A7F-24AA-4DC7-A7E5-F5FBFEC66798}"/>
              </a:ext>
            </a:extLst>
          </p:cNvPr>
          <p:cNvSpPr>
            <a:spLocks noGrp="1"/>
          </p:cNvSpPr>
          <p:nvPr/>
        </p:nvSpPr>
        <p:spPr>
          <a:xfrm>
            <a:off x="895350" y="2447925"/>
            <a:ext cx="1619250" cy="209550"/>
          </a:xfrm>
          <a:prstGeom prst="rect">
            <a:avLst/>
          </a:prstGeom>
          <a:noFill/>
          <a:ln w="0">
            <a:noFill/>
            <a:prstDash val="solid"/>
          </a:ln>
        </p:spPr>
        <p:txBody>
          <a:bodyPr anchor="t"/>
          <a:lstStyle/>
          <a:p>
            <a:pPr algn="l">
              <a:defRPr sz="1425" b="1">
                <a:solidFill>
                  <a:srgbClr val="0F172A"/>
                </a:solidFill>
                <a:latin typeface="Aptos"/>
                <a:ea typeface="Aptos"/>
                <a:cs typeface="Aptos"/>
              </a:defRPr>
            </a:pPr>
            <a:r>
              <a:rPr sz="1425" b="1">
                <a:solidFill>
                  <a:srgbClr val="0F172A"/>
                </a:solidFill>
                <a:latin typeface="Aptos"/>
                <a:ea typeface="Aptos"/>
                <a:cs typeface="Aptos"/>
              </a:rPr>
              <a:t>Accept RCA</a:t>
            </a:r>
          </a:p>
        </p:txBody>
      </p:sp>
      <p:sp>
        <p:nvSpPr>
          <p:cNvPr id="8" name="Rectangle 7">
            <a:extLst>
              <a:ext uri="{FF2B5EF4-FFF2-40B4-BE49-F238E27FC236}">
                <a16:creationId xmlns:a16="http://schemas.microsoft.com/office/drawing/2014/main" id="{652E544F-C6C7-4F83-AE5F-DA07AB757F25}"/>
              </a:ext>
            </a:extLst>
          </p:cNvPr>
          <p:cNvSpPr>
            <a:spLocks noGrp="1"/>
          </p:cNvSpPr>
          <p:nvPr/>
        </p:nvSpPr>
        <p:spPr>
          <a:xfrm>
            <a:off x="2667000" y="2457450"/>
            <a:ext cx="2095500" cy="209550"/>
          </a:xfrm>
          <a:prstGeom prst="rect">
            <a:avLst/>
          </a:prstGeom>
          <a:noFill/>
          <a:ln w="0">
            <a:noFill/>
            <a:prstDash val="solid"/>
          </a:ln>
        </p:spPr>
        <p:txBody>
          <a:bodyPr anchor="t"/>
          <a:lstStyle/>
          <a:p>
            <a:pPr algn="l">
              <a:defRPr sz="1125" b="0">
                <a:solidFill>
                  <a:srgbClr val="64748B"/>
                </a:solidFill>
                <a:latin typeface="Aptos"/>
                <a:ea typeface="Aptos"/>
                <a:cs typeface="Aptos"/>
              </a:defRPr>
            </a:pPr>
            <a:r>
              <a:rPr sz="1125" b="0">
                <a:solidFill>
                  <a:srgbClr val="64748B"/>
                </a:solidFill>
                <a:latin typeface="Aptos"/>
                <a:ea typeface="Aptos"/>
                <a:cs typeface="Aptos"/>
              </a:rPr>
              <a:t>Use when evidence and confidence are sufficient.</a:t>
            </a:r>
          </a:p>
        </p:txBody>
      </p:sp>
      <p:sp>
        <p:nvSpPr>
          <p:cNvPr id="9" name="Rectangle: Rounded Corners 8">
            <a:extLst>
              <a:ext uri="{FF2B5EF4-FFF2-40B4-BE49-F238E27FC236}">
                <a16:creationId xmlns:a16="http://schemas.microsoft.com/office/drawing/2014/main" id="{690BFB30-9C50-48BB-A542-85A31E69638B}"/>
              </a:ext>
            </a:extLst>
          </p:cNvPr>
          <p:cNvSpPr>
            <a:spLocks noGrp="1"/>
          </p:cNvSpPr>
          <p:nvPr/>
        </p:nvSpPr>
        <p:spPr>
          <a:xfrm>
            <a:off x="685800" y="2975610"/>
            <a:ext cx="4286250" cy="457200"/>
          </a:xfrm>
          <a:prstGeom prst="roundRect">
            <a:avLst>
              <a:gd name="adj" fmla="val 12500"/>
            </a:avLst>
          </a:prstGeom>
          <a:solidFill>
            <a:srgbClr val="FFFFFF"/>
          </a:solidFill>
          <a:ln w="9525">
            <a:solidFill>
              <a:srgbClr val="CBD5E1"/>
            </a:solidFill>
            <a:prstDash val="solid"/>
          </a:ln>
        </p:spPr>
        <p:txBody>
          <a:bodyPr/>
          <a:lstStyle/>
          <a:p>
            <a:endParaRPr lang="en-US"/>
          </a:p>
        </p:txBody>
      </p:sp>
      <p:sp>
        <p:nvSpPr>
          <p:cNvPr id="10" name="Rectangle 9">
            <a:extLst>
              <a:ext uri="{FF2B5EF4-FFF2-40B4-BE49-F238E27FC236}">
                <a16:creationId xmlns:a16="http://schemas.microsoft.com/office/drawing/2014/main" id="{16E61842-C43C-47B3-9703-F28515B09434}"/>
              </a:ext>
            </a:extLst>
          </p:cNvPr>
          <p:cNvSpPr>
            <a:spLocks noGrp="1"/>
          </p:cNvSpPr>
          <p:nvPr/>
        </p:nvSpPr>
        <p:spPr>
          <a:xfrm>
            <a:off x="895350" y="3057525"/>
            <a:ext cx="1619250" cy="209550"/>
          </a:xfrm>
          <a:prstGeom prst="rect">
            <a:avLst/>
          </a:prstGeom>
          <a:noFill/>
          <a:ln w="0">
            <a:noFill/>
            <a:prstDash val="solid"/>
          </a:ln>
        </p:spPr>
        <p:txBody>
          <a:bodyPr anchor="t"/>
          <a:lstStyle/>
          <a:p>
            <a:pPr algn="l">
              <a:defRPr sz="1425" b="1">
                <a:solidFill>
                  <a:srgbClr val="0F172A"/>
                </a:solidFill>
                <a:latin typeface="Aptos"/>
                <a:ea typeface="Aptos"/>
                <a:cs typeface="Aptos"/>
              </a:defRPr>
            </a:pPr>
            <a:r>
              <a:rPr sz="1425" b="1">
                <a:solidFill>
                  <a:srgbClr val="0F172A"/>
                </a:solidFill>
                <a:latin typeface="Aptos"/>
                <a:ea typeface="Aptos"/>
                <a:cs typeface="Aptos"/>
              </a:rPr>
              <a:t>Reject RCA</a:t>
            </a:r>
          </a:p>
        </p:txBody>
      </p:sp>
      <p:sp>
        <p:nvSpPr>
          <p:cNvPr id="11" name="Rectangle 10">
            <a:extLst>
              <a:ext uri="{FF2B5EF4-FFF2-40B4-BE49-F238E27FC236}">
                <a16:creationId xmlns:a16="http://schemas.microsoft.com/office/drawing/2014/main" id="{E0FFD5B4-5F46-4A33-9997-2822E3E6CE2E}"/>
              </a:ext>
            </a:extLst>
          </p:cNvPr>
          <p:cNvSpPr>
            <a:spLocks noGrp="1"/>
          </p:cNvSpPr>
          <p:nvPr/>
        </p:nvSpPr>
        <p:spPr>
          <a:xfrm>
            <a:off x="2667000" y="3067050"/>
            <a:ext cx="2095500" cy="209550"/>
          </a:xfrm>
          <a:prstGeom prst="rect">
            <a:avLst/>
          </a:prstGeom>
          <a:noFill/>
          <a:ln w="0">
            <a:noFill/>
            <a:prstDash val="solid"/>
          </a:ln>
        </p:spPr>
        <p:txBody>
          <a:bodyPr anchor="t"/>
          <a:lstStyle/>
          <a:p>
            <a:pPr algn="l">
              <a:defRPr sz="1125" b="0">
                <a:solidFill>
                  <a:srgbClr val="64748B"/>
                </a:solidFill>
                <a:latin typeface="Aptos"/>
                <a:ea typeface="Aptos"/>
                <a:cs typeface="Aptos"/>
              </a:defRPr>
            </a:pPr>
            <a:r>
              <a:rPr sz="1125" b="0">
                <a:solidFill>
                  <a:srgbClr val="64748B"/>
                </a:solidFill>
                <a:latin typeface="Aptos"/>
                <a:ea typeface="Aptos"/>
                <a:cs typeface="Aptos"/>
              </a:rPr>
              <a:t>Use when the hypothesis is wrong or misleading.</a:t>
            </a:r>
          </a:p>
        </p:txBody>
      </p:sp>
      <p:sp>
        <p:nvSpPr>
          <p:cNvPr id="12" name="Rectangle: Rounded Corners 11">
            <a:extLst>
              <a:ext uri="{FF2B5EF4-FFF2-40B4-BE49-F238E27FC236}">
                <a16:creationId xmlns:a16="http://schemas.microsoft.com/office/drawing/2014/main" id="{B8BA9F3F-373D-42D0-AD0E-45863CD4BFC9}"/>
              </a:ext>
            </a:extLst>
          </p:cNvPr>
          <p:cNvSpPr>
            <a:spLocks noGrp="1"/>
          </p:cNvSpPr>
          <p:nvPr/>
        </p:nvSpPr>
        <p:spPr>
          <a:xfrm>
            <a:off x="685800" y="3611880"/>
            <a:ext cx="4286250" cy="548640"/>
          </a:xfrm>
          <a:prstGeom prst="roundRect">
            <a:avLst>
              <a:gd name="adj" fmla="val 12500"/>
            </a:avLst>
          </a:prstGeom>
          <a:solidFill>
            <a:srgbClr val="FFFFFF"/>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56D531A8-4B71-46ED-8ADD-D892012051BD}"/>
              </a:ext>
            </a:extLst>
          </p:cNvPr>
          <p:cNvSpPr>
            <a:spLocks noGrp="1"/>
          </p:cNvSpPr>
          <p:nvPr/>
        </p:nvSpPr>
        <p:spPr>
          <a:xfrm>
            <a:off x="895350" y="3667125"/>
            <a:ext cx="1619250" cy="209550"/>
          </a:xfrm>
          <a:prstGeom prst="rect">
            <a:avLst/>
          </a:prstGeom>
          <a:noFill/>
          <a:ln w="0">
            <a:noFill/>
            <a:prstDash val="solid"/>
          </a:ln>
        </p:spPr>
        <p:txBody>
          <a:bodyPr anchor="t"/>
          <a:lstStyle/>
          <a:p>
            <a:pPr algn="l">
              <a:defRPr sz="1425" b="1">
                <a:solidFill>
                  <a:srgbClr val="0F172A"/>
                </a:solidFill>
                <a:latin typeface="Aptos"/>
                <a:ea typeface="Aptos"/>
                <a:cs typeface="Aptos"/>
              </a:defRPr>
            </a:pPr>
            <a:r>
              <a:rPr sz="1425" b="1">
                <a:solidFill>
                  <a:srgbClr val="0F172A"/>
                </a:solidFill>
                <a:latin typeface="Aptos"/>
                <a:ea typeface="Aptos"/>
                <a:cs typeface="Aptos"/>
              </a:rPr>
              <a:t>Evidence insufficient</a:t>
            </a:r>
          </a:p>
        </p:txBody>
      </p:sp>
      <p:sp>
        <p:nvSpPr>
          <p:cNvPr id="14" name="Rectangle 13">
            <a:extLst>
              <a:ext uri="{FF2B5EF4-FFF2-40B4-BE49-F238E27FC236}">
                <a16:creationId xmlns:a16="http://schemas.microsoft.com/office/drawing/2014/main" id="{7379EC4A-A28A-46A4-A7B7-507E49E1D5AE}"/>
              </a:ext>
            </a:extLst>
          </p:cNvPr>
          <p:cNvSpPr>
            <a:spLocks noGrp="1"/>
          </p:cNvSpPr>
          <p:nvPr/>
        </p:nvSpPr>
        <p:spPr>
          <a:xfrm>
            <a:off x="2667000" y="3676650"/>
            <a:ext cx="2095500" cy="209550"/>
          </a:xfrm>
          <a:prstGeom prst="rect">
            <a:avLst/>
          </a:prstGeom>
          <a:noFill/>
          <a:ln w="0">
            <a:noFill/>
            <a:prstDash val="solid"/>
          </a:ln>
        </p:spPr>
        <p:txBody>
          <a:bodyPr anchor="t"/>
          <a:lstStyle/>
          <a:p>
            <a:pPr algn="l">
              <a:defRPr sz="1125" b="0">
                <a:solidFill>
                  <a:srgbClr val="64748B"/>
                </a:solidFill>
                <a:latin typeface="Aptos"/>
                <a:ea typeface="Aptos"/>
                <a:cs typeface="Aptos"/>
              </a:defRPr>
            </a:pPr>
            <a:r>
              <a:rPr sz="1125" b="0" dirty="0">
                <a:solidFill>
                  <a:srgbClr val="64748B"/>
                </a:solidFill>
                <a:latin typeface="Aptos"/>
                <a:ea typeface="Aptos"/>
                <a:cs typeface="Aptos"/>
              </a:rPr>
              <a:t>Mark the analysis as under-supported.</a:t>
            </a:r>
          </a:p>
        </p:txBody>
      </p:sp>
      <p:sp>
        <p:nvSpPr>
          <p:cNvPr id="15" name="Rectangle: Rounded Corners 14">
            <a:extLst>
              <a:ext uri="{FF2B5EF4-FFF2-40B4-BE49-F238E27FC236}">
                <a16:creationId xmlns:a16="http://schemas.microsoft.com/office/drawing/2014/main" id="{EB6D0923-07A9-4B6D-908D-71897D545393}"/>
              </a:ext>
            </a:extLst>
          </p:cNvPr>
          <p:cNvSpPr>
            <a:spLocks noGrp="1"/>
          </p:cNvSpPr>
          <p:nvPr/>
        </p:nvSpPr>
        <p:spPr>
          <a:xfrm>
            <a:off x="685800" y="4252913"/>
            <a:ext cx="4286250" cy="457200"/>
          </a:xfrm>
          <a:prstGeom prst="roundRect">
            <a:avLst>
              <a:gd name="adj" fmla="val 12500"/>
            </a:avLst>
          </a:prstGeom>
          <a:solidFill>
            <a:srgbClr val="FFFFFF"/>
          </a:solidFill>
          <a:ln w="9525">
            <a:solidFill>
              <a:srgbClr val="CBD5E1"/>
            </a:solidFill>
            <a:prstDash val="solid"/>
          </a:ln>
        </p:spPr>
        <p:txBody>
          <a:bodyPr/>
          <a:lstStyle/>
          <a:p>
            <a:endParaRPr lang="en-US"/>
          </a:p>
        </p:txBody>
      </p:sp>
      <p:sp>
        <p:nvSpPr>
          <p:cNvPr id="16" name="Rectangle 15">
            <a:extLst>
              <a:ext uri="{FF2B5EF4-FFF2-40B4-BE49-F238E27FC236}">
                <a16:creationId xmlns:a16="http://schemas.microsoft.com/office/drawing/2014/main" id="{8347809F-6AF5-4D10-9EEE-B8A98B7E3AE1}"/>
              </a:ext>
            </a:extLst>
          </p:cNvPr>
          <p:cNvSpPr>
            <a:spLocks noGrp="1"/>
          </p:cNvSpPr>
          <p:nvPr/>
        </p:nvSpPr>
        <p:spPr>
          <a:xfrm>
            <a:off x="895350" y="4276725"/>
            <a:ext cx="1619250" cy="209550"/>
          </a:xfrm>
          <a:prstGeom prst="rect">
            <a:avLst/>
          </a:prstGeom>
          <a:noFill/>
          <a:ln w="0">
            <a:noFill/>
            <a:prstDash val="solid"/>
          </a:ln>
        </p:spPr>
        <p:txBody>
          <a:bodyPr anchor="t"/>
          <a:lstStyle/>
          <a:p>
            <a:pPr algn="l">
              <a:defRPr sz="1425" b="1">
                <a:solidFill>
                  <a:srgbClr val="0F172A"/>
                </a:solidFill>
                <a:latin typeface="Aptos"/>
                <a:ea typeface="Aptos"/>
                <a:cs typeface="Aptos"/>
              </a:defRPr>
            </a:pPr>
            <a:r>
              <a:rPr sz="1425" b="1">
                <a:solidFill>
                  <a:srgbClr val="0F172A"/>
                </a:solidFill>
                <a:latin typeface="Aptos"/>
                <a:ea typeface="Aptos"/>
                <a:cs typeface="Aptos"/>
              </a:rPr>
              <a:t>Request more data</a:t>
            </a:r>
          </a:p>
        </p:txBody>
      </p:sp>
      <p:sp>
        <p:nvSpPr>
          <p:cNvPr id="17" name="Rectangle 16">
            <a:extLst>
              <a:ext uri="{FF2B5EF4-FFF2-40B4-BE49-F238E27FC236}">
                <a16:creationId xmlns:a16="http://schemas.microsoft.com/office/drawing/2014/main" id="{50819332-1E80-4090-AFF8-9D50B31F14EA}"/>
              </a:ext>
            </a:extLst>
          </p:cNvPr>
          <p:cNvSpPr>
            <a:spLocks noGrp="1"/>
          </p:cNvSpPr>
          <p:nvPr/>
        </p:nvSpPr>
        <p:spPr>
          <a:xfrm>
            <a:off x="2667000" y="4286250"/>
            <a:ext cx="2095500" cy="209550"/>
          </a:xfrm>
          <a:prstGeom prst="rect">
            <a:avLst/>
          </a:prstGeom>
          <a:noFill/>
          <a:ln w="0">
            <a:noFill/>
            <a:prstDash val="solid"/>
          </a:ln>
        </p:spPr>
        <p:txBody>
          <a:bodyPr anchor="t"/>
          <a:lstStyle/>
          <a:p>
            <a:pPr algn="l">
              <a:defRPr sz="1125" b="0">
                <a:solidFill>
                  <a:srgbClr val="64748B"/>
                </a:solidFill>
                <a:latin typeface="Aptos"/>
                <a:ea typeface="Aptos"/>
                <a:cs typeface="Aptos"/>
              </a:defRPr>
            </a:pPr>
            <a:r>
              <a:rPr sz="1125" b="0" dirty="0">
                <a:solidFill>
                  <a:srgbClr val="64748B"/>
                </a:solidFill>
                <a:latin typeface="Aptos"/>
                <a:ea typeface="Aptos"/>
                <a:cs typeface="Aptos"/>
              </a:rPr>
              <a:t>Trigger another investigation pass.</a:t>
            </a:r>
          </a:p>
        </p:txBody>
      </p:sp>
      <p:sp>
        <p:nvSpPr>
          <p:cNvPr id="18" name="Rectangle: Rounded Corners 17">
            <a:extLst>
              <a:ext uri="{FF2B5EF4-FFF2-40B4-BE49-F238E27FC236}">
                <a16:creationId xmlns:a16="http://schemas.microsoft.com/office/drawing/2014/main" id="{13C19D8D-B644-4393-81C1-BF223943C575}"/>
              </a:ext>
            </a:extLst>
          </p:cNvPr>
          <p:cNvSpPr>
            <a:spLocks noGrp="1"/>
          </p:cNvSpPr>
          <p:nvPr/>
        </p:nvSpPr>
        <p:spPr>
          <a:xfrm>
            <a:off x="685800" y="4867275"/>
            <a:ext cx="4286250" cy="457200"/>
          </a:xfrm>
          <a:prstGeom prst="roundRect">
            <a:avLst>
              <a:gd name="adj" fmla="val 12500"/>
            </a:avLst>
          </a:prstGeom>
          <a:solidFill>
            <a:srgbClr val="FFFFFF"/>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1B7F950E-9B02-4732-82DB-384E40246E7B}"/>
              </a:ext>
            </a:extLst>
          </p:cNvPr>
          <p:cNvSpPr>
            <a:spLocks noGrp="1"/>
          </p:cNvSpPr>
          <p:nvPr/>
        </p:nvSpPr>
        <p:spPr>
          <a:xfrm>
            <a:off x="895350" y="4886325"/>
            <a:ext cx="1619250" cy="209550"/>
          </a:xfrm>
          <a:prstGeom prst="rect">
            <a:avLst/>
          </a:prstGeom>
          <a:noFill/>
          <a:ln w="0">
            <a:noFill/>
            <a:prstDash val="solid"/>
          </a:ln>
        </p:spPr>
        <p:txBody>
          <a:bodyPr anchor="t"/>
          <a:lstStyle/>
          <a:p>
            <a:pPr algn="l">
              <a:defRPr sz="1425" b="1">
                <a:solidFill>
                  <a:srgbClr val="0F172A"/>
                </a:solidFill>
                <a:latin typeface="Aptos"/>
                <a:ea typeface="Aptos"/>
                <a:cs typeface="Aptos"/>
              </a:defRPr>
            </a:pPr>
            <a:r>
              <a:rPr sz="1425" b="1">
                <a:solidFill>
                  <a:srgbClr val="0F172A"/>
                </a:solidFill>
                <a:latin typeface="Aptos"/>
                <a:ea typeface="Aptos"/>
                <a:cs typeface="Aptos"/>
              </a:rPr>
              <a:t>Override RCA</a:t>
            </a:r>
          </a:p>
        </p:txBody>
      </p:sp>
      <p:sp>
        <p:nvSpPr>
          <p:cNvPr id="20" name="Rectangle 19">
            <a:extLst>
              <a:ext uri="{FF2B5EF4-FFF2-40B4-BE49-F238E27FC236}">
                <a16:creationId xmlns:a16="http://schemas.microsoft.com/office/drawing/2014/main" id="{B2025072-F7B7-4461-BF89-EB9357361CFB}"/>
              </a:ext>
            </a:extLst>
          </p:cNvPr>
          <p:cNvSpPr>
            <a:spLocks noGrp="1"/>
          </p:cNvSpPr>
          <p:nvPr/>
        </p:nvSpPr>
        <p:spPr>
          <a:xfrm>
            <a:off x="2667000" y="4895850"/>
            <a:ext cx="2095500" cy="209550"/>
          </a:xfrm>
          <a:prstGeom prst="rect">
            <a:avLst/>
          </a:prstGeom>
          <a:noFill/>
          <a:ln w="0">
            <a:noFill/>
            <a:prstDash val="solid"/>
          </a:ln>
        </p:spPr>
        <p:txBody>
          <a:bodyPr anchor="t"/>
          <a:lstStyle/>
          <a:p>
            <a:pPr algn="l">
              <a:defRPr sz="1125" b="0">
                <a:solidFill>
                  <a:srgbClr val="64748B"/>
                </a:solidFill>
                <a:latin typeface="Aptos"/>
                <a:ea typeface="Aptos"/>
                <a:cs typeface="Aptos"/>
              </a:defRPr>
            </a:pPr>
            <a:r>
              <a:rPr sz="1125" b="0">
                <a:solidFill>
                  <a:srgbClr val="64748B"/>
                </a:solidFill>
                <a:latin typeface="Aptos"/>
                <a:ea typeface="Aptos"/>
                <a:cs typeface="Aptos"/>
              </a:rPr>
              <a:t>Replace the hypothesis with reviewer rationale.</a:t>
            </a:r>
          </a:p>
        </p:txBody>
      </p:sp>
      <p:sp>
        <p:nvSpPr>
          <p:cNvPr id="21" name="Rectangle: Rounded Corners 20">
            <a:extLst>
              <a:ext uri="{FF2B5EF4-FFF2-40B4-BE49-F238E27FC236}">
                <a16:creationId xmlns:a16="http://schemas.microsoft.com/office/drawing/2014/main" id="{ABBB045B-7894-4618-BD57-8B65A43736B3}"/>
              </a:ext>
            </a:extLst>
          </p:cNvPr>
          <p:cNvSpPr>
            <a:spLocks noGrp="1"/>
          </p:cNvSpPr>
          <p:nvPr/>
        </p:nvSpPr>
        <p:spPr>
          <a:xfrm>
            <a:off x="5919787" y="2324481"/>
            <a:ext cx="5191125" cy="2856738"/>
          </a:xfrm>
          <a:prstGeom prst="roundRect">
            <a:avLst>
              <a:gd name="adj" fmla="val 1967"/>
            </a:avLst>
          </a:prstGeom>
          <a:solidFill>
            <a:srgbClr val="FFFFFF"/>
          </a:solidFill>
          <a:ln w="9525">
            <a:solidFill>
              <a:srgbClr val="CBD5E1"/>
            </a:solidFill>
            <a:prstDash val="solid"/>
          </a:ln>
        </p:spPr>
        <p:txBody>
          <a:bodyPr/>
          <a:lstStyle/>
          <a:p>
            <a:endParaRPr lang="en-US"/>
          </a:p>
        </p:txBody>
      </p:sp>
      <p:sp>
        <p:nvSpPr>
          <p:cNvPr id="22" name="Rectangle 21">
            <a:extLst>
              <a:ext uri="{FF2B5EF4-FFF2-40B4-BE49-F238E27FC236}">
                <a16:creationId xmlns:a16="http://schemas.microsoft.com/office/drawing/2014/main" id="{A8FFD1E0-EC97-44D0-AF33-C3E1BAEA7D45}"/>
              </a:ext>
            </a:extLst>
          </p:cNvPr>
          <p:cNvSpPr>
            <a:spLocks noGrp="1"/>
          </p:cNvSpPr>
          <p:nvPr/>
        </p:nvSpPr>
        <p:spPr>
          <a:xfrm>
            <a:off x="6210300" y="2457450"/>
            <a:ext cx="4191000" cy="323850"/>
          </a:xfrm>
          <a:prstGeom prst="rect">
            <a:avLst/>
          </a:prstGeom>
          <a:noFill/>
          <a:ln w="0">
            <a:noFill/>
            <a:prstDash val="solid"/>
          </a:ln>
        </p:spPr>
        <p:txBody>
          <a:bodyPr anchor="t"/>
          <a:lstStyle/>
          <a:p>
            <a:pPr algn="l">
              <a:defRPr sz="2250" b="1">
                <a:solidFill>
                  <a:srgbClr val="0F172A"/>
                </a:solidFill>
                <a:latin typeface="Aptos"/>
                <a:ea typeface="Aptos"/>
                <a:cs typeface="Aptos"/>
              </a:defRPr>
            </a:pPr>
            <a:r>
              <a:rPr sz="2250" b="1" dirty="0">
                <a:solidFill>
                  <a:srgbClr val="0F172A"/>
                </a:solidFill>
                <a:latin typeface="Aptos"/>
                <a:ea typeface="Aptos"/>
                <a:cs typeface="Aptos"/>
              </a:rPr>
              <a:t>Controls exposed in the API</a:t>
            </a:r>
          </a:p>
        </p:txBody>
      </p:sp>
      <p:sp>
        <p:nvSpPr>
          <p:cNvPr id="23" name="Rectangle 22">
            <a:extLst>
              <a:ext uri="{FF2B5EF4-FFF2-40B4-BE49-F238E27FC236}">
                <a16:creationId xmlns:a16="http://schemas.microsoft.com/office/drawing/2014/main" id="{8B722CC2-7E09-4498-AF36-7BDF4EECD204}"/>
              </a:ext>
            </a:extLst>
          </p:cNvPr>
          <p:cNvSpPr>
            <a:spLocks noGrp="1"/>
          </p:cNvSpPr>
          <p:nvPr/>
        </p:nvSpPr>
        <p:spPr>
          <a:xfrm>
            <a:off x="6210300" y="2899791"/>
            <a:ext cx="4381500" cy="1428750"/>
          </a:xfrm>
          <a:prstGeom prst="rect">
            <a:avLst/>
          </a:prstGeom>
          <a:noFill/>
          <a:ln w="0">
            <a:noFill/>
            <a:prstDash val="solid"/>
          </a:ln>
        </p:spPr>
        <p:txBody>
          <a:bodyPr anchor="t"/>
          <a:lstStyle/>
          <a:p>
            <a:pPr algn="l">
              <a:defRPr sz="1425" b="0">
                <a:solidFill>
                  <a:srgbClr val="64748B"/>
                </a:solidFill>
                <a:latin typeface="Aptos"/>
                <a:ea typeface="Aptos"/>
                <a:cs typeface="Aptos"/>
              </a:defRPr>
            </a:pPr>
            <a:r>
              <a:rPr sz="1425" b="0">
                <a:solidFill>
                  <a:srgbClr val="64748B"/>
                </a:solidFill>
                <a:latin typeface="Aptos"/>
                <a:ea typeface="Aptos"/>
                <a:cs typeface="Aptos"/>
              </a:rPr>
              <a:t>• `/review/rca` records accept, reject, or insufficient evidence</a:t>
            </a:r>
          </a:p>
          <a:p>
            <a:pPr algn="l">
              <a:defRPr sz="1425" b="0">
                <a:solidFill>
                  <a:srgbClr val="64748B"/>
                </a:solidFill>
                <a:latin typeface="Aptos"/>
                <a:ea typeface="Aptos"/>
                <a:cs typeface="Aptos"/>
              </a:defRPr>
            </a:pPr>
            <a:r>
              <a:rPr sz="1425" b="0">
                <a:solidFill>
                  <a:srgbClr val="64748B"/>
                </a:solidFill>
                <a:latin typeface="Aptos"/>
                <a:ea typeface="Aptos"/>
                <a:cs typeface="Aptos"/>
              </a:rPr>
              <a:t>• `/review/request-more-data` asks agents for another pass</a:t>
            </a:r>
          </a:p>
          <a:p>
            <a:pPr algn="l">
              <a:defRPr sz="1425" b="0">
                <a:solidFill>
                  <a:srgbClr val="64748B"/>
                </a:solidFill>
                <a:latin typeface="Aptos"/>
                <a:ea typeface="Aptos"/>
                <a:cs typeface="Aptos"/>
              </a:defRPr>
            </a:pPr>
            <a:r>
              <a:rPr sz="1425" b="0">
                <a:solidFill>
                  <a:srgbClr val="64748B"/>
                </a:solidFill>
                <a:latin typeface="Aptos"/>
                <a:ea typeface="Aptos"/>
                <a:cs typeface="Aptos"/>
              </a:rPr>
              <a:t>• `/review/override-root-cause` captures manual correction</a:t>
            </a:r>
          </a:p>
          <a:p>
            <a:pPr algn="l">
              <a:defRPr sz="1425" b="0">
                <a:solidFill>
                  <a:srgbClr val="64748B"/>
                </a:solidFill>
                <a:latin typeface="Aptos"/>
                <a:ea typeface="Aptos"/>
                <a:cs typeface="Aptos"/>
              </a:defRPr>
            </a:pPr>
            <a:r>
              <a:rPr sz="1425" b="0">
                <a:solidFill>
                  <a:srgbClr val="64748B"/>
                </a:solidFill>
                <a:latin typeface="Aptos"/>
                <a:ea typeface="Aptos"/>
                <a:cs typeface="Aptos"/>
              </a:rPr>
              <a:t>• `/remediation/{step}/decision` approves or rejects recovery steps</a:t>
            </a:r>
          </a:p>
          <a:p>
            <a:pPr algn="l">
              <a:defRPr sz="1425" b="0">
                <a:solidFill>
                  <a:srgbClr val="64748B"/>
                </a:solidFill>
                <a:latin typeface="Aptos"/>
                <a:ea typeface="Aptos"/>
                <a:cs typeface="Aptos"/>
              </a:defRPr>
            </a:pPr>
            <a:r>
              <a:rPr sz="1425" b="0">
                <a:solidFill>
                  <a:srgbClr val="64748B"/>
                </a:solidFill>
                <a:latin typeface="Aptos"/>
                <a:ea typeface="Aptos"/>
                <a:cs typeface="Aptos"/>
              </a:rPr>
              <a:t>• `/ask` answers incident-specific questions from context</a:t>
            </a:r>
          </a:p>
        </p:txBody>
      </p:sp>
    </p:spTree>
    <p:extLst>
      <p:ext uri="{BB962C8B-B14F-4D97-AF65-F5344CB8AC3E}">
        <p14:creationId xmlns:p14="http://schemas.microsoft.com/office/powerpoint/2010/main" val="968160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F77C415-7627-410D-8C95-4A422875F99A}"/>
              </a:ext>
            </a:extLst>
          </p:cNvPr>
          <p:cNvSpPr>
            <a:spLocks noGrp="1"/>
          </p:cNvSpPr>
          <p:nvPr/>
        </p:nvSpPr>
        <p:spPr>
          <a:xfrm>
            <a:off x="400050" y="342900"/>
            <a:ext cx="3429000" cy="228600"/>
          </a:xfrm>
          <a:prstGeom prst="rect">
            <a:avLst/>
          </a:prstGeom>
          <a:noFill/>
          <a:ln w="0">
            <a:noFill/>
            <a:prstDash val="solid"/>
          </a:ln>
        </p:spPr>
        <p:txBody>
          <a:bodyPr anchor="t"/>
          <a:lstStyle/>
          <a:p>
            <a:pPr algn="l">
              <a:defRPr sz="1050" b="1">
                <a:solidFill>
                  <a:srgbClr val="0891B2"/>
                </a:solidFill>
                <a:latin typeface="Aptos"/>
                <a:ea typeface="Aptos"/>
                <a:cs typeface="Aptos"/>
              </a:defRPr>
            </a:pPr>
            <a:r>
              <a:rPr sz="1050" b="1">
                <a:solidFill>
                  <a:srgbClr val="0891B2"/>
                </a:solidFill>
                <a:latin typeface="Aptos"/>
                <a:ea typeface="Aptos"/>
                <a:cs typeface="Aptos"/>
              </a:rPr>
              <a:t>RECORDING RUN-OF-SHOW</a:t>
            </a:r>
          </a:p>
        </p:txBody>
      </p:sp>
      <p:sp>
        <p:nvSpPr>
          <p:cNvPr id="2" name="Rectangle 1">
            <a:extLst>
              <a:ext uri="{FF2B5EF4-FFF2-40B4-BE49-F238E27FC236}">
                <a16:creationId xmlns:a16="http://schemas.microsoft.com/office/drawing/2014/main" id="{442509DD-B8E4-4C69-AFF7-CA66434083AC}"/>
              </a:ext>
            </a:extLst>
          </p:cNvPr>
          <p:cNvSpPr>
            <a:spLocks noGrp="1"/>
          </p:cNvSpPr>
          <p:nvPr/>
        </p:nvSpPr>
        <p:spPr>
          <a:xfrm>
            <a:off x="400050" y="704850"/>
            <a:ext cx="8763000" cy="914400"/>
          </a:xfrm>
          <a:prstGeom prst="rect">
            <a:avLst/>
          </a:prstGeom>
          <a:noFill/>
          <a:ln w="0">
            <a:noFill/>
            <a:prstDash val="solid"/>
          </a:ln>
        </p:spPr>
        <p:txBody>
          <a:bodyPr anchor="t"/>
          <a:lstStyle/>
          <a:p>
            <a:pPr algn="l">
              <a:defRPr sz="3225" b="1">
                <a:solidFill>
                  <a:srgbClr val="0F172A"/>
                </a:solidFill>
                <a:latin typeface="Aptos Display"/>
                <a:ea typeface="Aptos Display"/>
                <a:cs typeface="Aptos Display"/>
              </a:defRPr>
            </a:pPr>
            <a:r>
              <a:rPr sz="3225" b="1">
                <a:solidFill>
                  <a:srgbClr val="0F172A"/>
                </a:solidFill>
                <a:latin typeface="Aptos Display"/>
                <a:ea typeface="Aptos Display"/>
                <a:cs typeface="Aptos Display"/>
              </a:rPr>
              <a:t>Use the demo as a single story, not a feature checklist.</a:t>
            </a:r>
          </a:p>
        </p:txBody>
      </p:sp>
      <p:sp>
        <p:nvSpPr>
          <p:cNvPr id="3" name="Rectangle 2">
            <a:extLst>
              <a:ext uri="{FF2B5EF4-FFF2-40B4-BE49-F238E27FC236}">
                <a16:creationId xmlns:a16="http://schemas.microsoft.com/office/drawing/2014/main" id="{BE5A3148-B799-4E11-A39C-08A871CD3A4B}"/>
              </a:ext>
            </a:extLst>
          </p:cNvPr>
          <p:cNvSpPr>
            <a:spLocks noGrp="1"/>
          </p:cNvSpPr>
          <p:nvPr/>
        </p:nvSpPr>
        <p:spPr>
          <a:xfrm>
            <a:off x="400050" y="1695450"/>
            <a:ext cx="8096250" cy="495300"/>
          </a:xfrm>
          <a:prstGeom prst="rect">
            <a:avLst/>
          </a:prstGeom>
          <a:noFill/>
          <a:ln w="0">
            <a:noFill/>
            <a:prstDash val="solid"/>
          </a:ln>
        </p:spPr>
        <p:txBody>
          <a:bodyPr anchor="t"/>
          <a:lstStyle/>
          <a:p>
            <a:pPr algn="l">
              <a:defRPr sz="1575" b="0">
                <a:solidFill>
                  <a:srgbClr val="64748B"/>
                </a:solidFill>
                <a:latin typeface="Aptos"/>
                <a:ea typeface="Aptos"/>
                <a:cs typeface="Aptos"/>
              </a:defRPr>
            </a:pPr>
            <a:r>
              <a:rPr sz="1575" b="0" dirty="0">
                <a:solidFill>
                  <a:srgbClr val="64748B"/>
                </a:solidFill>
                <a:latin typeface="Aptos"/>
                <a:ea typeface="Aptos"/>
                <a:cs typeface="Aptos"/>
              </a:rPr>
              <a:t>Recommended recording flow: start with the problem, launch one incident, inspect the RCA, verify evidence, make a review decision, then close with trace and postmortem.</a:t>
            </a:r>
          </a:p>
        </p:txBody>
      </p:sp>
      <p:sp>
        <p:nvSpPr>
          <p:cNvPr id="4" name="Rectangle 3">
            <a:extLst>
              <a:ext uri="{FF2B5EF4-FFF2-40B4-BE49-F238E27FC236}">
                <a16:creationId xmlns:a16="http://schemas.microsoft.com/office/drawing/2014/main" id="{B3402ECF-0568-41D8-B08A-BAB601261029}"/>
              </a:ext>
            </a:extLst>
          </p:cNvPr>
          <p:cNvSpPr>
            <a:spLocks noGrp="1"/>
          </p:cNvSpPr>
          <p:nvPr/>
        </p:nvSpPr>
        <p:spPr>
          <a:xfrm>
            <a:off x="400050" y="6343650"/>
            <a:ext cx="4000500" cy="247650"/>
          </a:xfrm>
          <a:prstGeom prst="rect">
            <a:avLst/>
          </a:prstGeom>
          <a:noFill/>
          <a:ln w="0">
            <a:noFill/>
            <a:prstDash val="solid"/>
          </a:ln>
        </p:spPr>
        <p:txBody>
          <a:bodyPr anchor="t"/>
          <a:lstStyle/>
          <a:p>
            <a:pPr algn="l">
              <a:defRPr sz="975" b="1">
                <a:solidFill>
                  <a:srgbClr val="64748B"/>
                </a:solidFill>
                <a:latin typeface="Aptos"/>
                <a:ea typeface="Aptos"/>
                <a:cs typeface="Aptos"/>
              </a:defRPr>
            </a:pPr>
            <a:r>
              <a:rPr sz="975" b="1">
                <a:solidFill>
                  <a:srgbClr val="64748B"/>
                </a:solidFill>
                <a:latin typeface="Aptos"/>
                <a:ea typeface="Aptos"/>
                <a:cs typeface="Aptos"/>
              </a:rPr>
              <a:t>AI Operations Command Center</a:t>
            </a:r>
          </a:p>
        </p:txBody>
      </p:sp>
      <p:sp>
        <p:nvSpPr>
          <p:cNvPr id="5" name="Rectangle 4">
            <a:extLst>
              <a:ext uri="{FF2B5EF4-FFF2-40B4-BE49-F238E27FC236}">
                <a16:creationId xmlns:a16="http://schemas.microsoft.com/office/drawing/2014/main" id="{E3366D74-5912-4218-B699-3AB3884A0FB1}"/>
              </a:ext>
            </a:extLst>
          </p:cNvPr>
          <p:cNvSpPr>
            <a:spLocks noGrp="1"/>
          </p:cNvSpPr>
          <p:nvPr/>
        </p:nvSpPr>
        <p:spPr>
          <a:xfrm>
            <a:off x="11287125" y="6343650"/>
            <a:ext cx="495300" cy="247650"/>
          </a:xfrm>
          <a:prstGeom prst="rect">
            <a:avLst/>
          </a:prstGeom>
          <a:noFill/>
          <a:ln w="0">
            <a:noFill/>
            <a:prstDash val="solid"/>
          </a:ln>
        </p:spPr>
        <p:txBody>
          <a:bodyPr anchor="t"/>
          <a:lstStyle/>
          <a:p>
            <a:pPr algn="r">
              <a:defRPr sz="975" b="1">
                <a:solidFill>
                  <a:srgbClr val="64748B"/>
                </a:solidFill>
                <a:latin typeface="Aptos"/>
                <a:ea typeface="Aptos"/>
                <a:cs typeface="Aptos"/>
              </a:defRPr>
            </a:pPr>
            <a:r>
              <a:rPr sz="975" b="1">
                <a:solidFill>
                  <a:srgbClr val="64748B"/>
                </a:solidFill>
                <a:latin typeface="Aptos"/>
                <a:ea typeface="Aptos"/>
                <a:cs typeface="Aptos"/>
              </a:rPr>
              <a:t>09</a:t>
            </a:r>
          </a:p>
        </p:txBody>
      </p:sp>
      <p:sp>
        <p:nvSpPr>
          <p:cNvPr id="6" name="Rectangle: Rounded Corners 5">
            <a:extLst>
              <a:ext uri="{FF2B5EF4-FFF2-40B4-BE49-F238E27FC236}">
                <a16:creationId xmlns:a16="http://schemas.microsoft.com/office/drawing/2014/main" id="{1C27B8F5-8496-4C63-81CB-3CB3FAB8264B}"/>
              </a:ext>
            </a:extLst>
          </p:cNvPr>
          <p:cNvSpPr>
            <a:spLocks noGrp="1"/>
          </p:cNvSpPr>
          <p:nvPr/>
        </p:nvSpPr>
        <p:spPr>
          <a:xfrm>
            <a:off x="723900" y="2314575"/>
            <a:ext cx="533400" cy="457200"/>
          </a:xfrm>
          <a:prstGeom prst="roundRect">
            <a:avLst>
              <a:gd name="adj" fmla="val 50000"/>
            </a:avLst>
          </a:prstGeom>
          <a:solidFill>
            <a:srgbClr val="0F172A"/>
          </a:solidFill>
          <a:ln w="9525">
            <a:solidFill>
              <a:srgbClr val="0F172A"/>
            </a:solidFill>
            <a:prstDash val="solid"/>
          </a:ln>
        </p:spPr>
        <p:txBody>
          <a:bodyPr/>
          <a:lstStyle/>
          <a:p>
            <a:endParaRPr lang="en-US"/>
          </a:p>
        </p:txBody>
      </p:sp>
      <p:sp>
        <p:nvSpPr>
          <p:cNvPr id="7" name="Rectangle 6">
            <a:extLst>
              <a:ext uri="{FF2B5EF4-FFF2-40B4-BE49-F238E27FC236}">
                <a16:creationId xmlns:a16="http://schemas.microsoft.com/office/drawing/2014/main" id="{703470CF-A3A0-4CAF-BC49-080DA354564A}"/>
              </a:ext>
            </a:extLst>
          </p:cNvPr>
          <p:cNvSpPr>
            <a:spLocks noGrp="1"/>
          </p:cNvSpPr>
          <p:nvPr/>
        </p:nvSpPr>
        <p:spPr>
          <a:xfrm>
            <a:off x="781050" y="2333625"/>
            <a:ext cx="419100" cy="419100"/>
          </a:xfrm>
          <a:prstGeom prst="rect">
            <a:avLst/>
          </a:prstGeom>
          <a:noFill/>
          <a:ln w="0">
            <a:noFill/>
            <a:prstDash val="solid"/>
          </a:ln>
        </p:spPr>
        <p:txBody>
          <a:bodyPr anchor="ctr"/>
          <a:lstStyle/>
          <a:p>
            <a:pPr algn="ctr">
              <a:defRPr sz="1950" b="1">
                <a:solidFill>
                  <a:srgbClr val="FFFFFF"/>
                </a:solidFill>
                <a:latin typeface="Aptos"/>
                <a:ea typeface="Aptos"/>
                <a:cs typeface="Aptos"/>
              </a:defRPr>
            </a:pPr>
            <a:r>
              <a:rPr sz="1950" b="1">
                <a:solidFill>
                  <a:srgbClr val="FFFFFF"/>
                </a:solidFill>
                <a:latin typeface="Aptos"/>
                <a:ea typeface="Aptos"/>
                <a:cs typeface="Aptos"/>
              </a:rPr>
              <a:t>1</a:t>
            </a:r>
          </a:p>
        </p:txBody>
      </p:sp>
      <p:sp>
        <p:nvSpPr>
          <p:cNvPr id="8" name="Rectangle 7">
            <a:extLst>
              <a:ext uri="{FF2B5EF4-FFF2-40B4-BE49-F238E27FC236}">
                <a16:creationId xmlns:a16="http://schemas.microsoft.com/office/drawing/2014/main" id="{CBAD078B-EE4B-43FB-951E-587F47C0956F}"/>
              </a:ext>
            </a:extLst>
          </p:cNvPr>
          <p:cNvSpPr>
            <a:spLocks noGrp="1"/>
          </p:cNvSpPr>
          <p:nvPr/>
        </p:nvSpPr>
        <p:spPr>
          <a:xfrm>
            <a:off x="1524000" y="2352675"/>
            <a:ext cx="25717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Open dashboard</a:t>
            </a:r>
          </a:p>
        </p:txBody>
      </p:sp>
      <p:sp>
        <p:nvSpPr>
          <p:cNvPr id="9" name="Rectangle 8">
            <a:extLst>
              <a:ext uri="{FF2B5EF4-FFF2-40B4-BE49-F238E27FC236}">
                <a16:creationId xmlns:a16="http://schemas.microsoft.com/office/drawing/2014/main" id="{F0869AE8-0721-4564-942A-5EB82CB17E24}"/>
              </a:ext>
            </a:extLst>
          </p:cNvPr>
          <p:cNvSpPr>
            <a:spLocks noGrp="1"/>
          </p:cNvSpPr>
          <p:nvPr/>
        </p:nvSpPr>
        <p:spPr>
          <a:xfrm>
            <a:off x="4286250" y="2381250"/>
            <a:ext cx="6191250" cy="24765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Explain command center purpose and live queue.</a:t>
            </a:r>
          </a:p>
        </p:txBody>
      </p:sp>
      <p:sp>
        <p:nvSpPr>
          <p:cNvPr id="10" name="Rectangle: Rounded Corners 9">
            <a:extLst>
              <a:ext uri="{FF2B5EF4-FFF2-40B4-BE49-F238E27FC236}">
                <a16:creationId xmlns:a16="http://schemas.microsoft.com/office/drawing/2014/main" id="{429604A4-56DA-4511-91E2-5BEA06AC5668}"/>
              </a:ext>
            </a:extLst>
          </p:cNvPr>
          <p:cNvSpPr>
            <a:spLocks noGrp="1"/>
          </p:cNvSpPr>
          <p:nvPr/>
        </p:nvSpPr>
        <p:spPr>
          <a:xfrm>
            <a:off x="723900" y="2867025"/>
            <a:ext cx="533400" cy="457200"/>
          </a:xfrm>
          <a:prstGeom prst="roundRect">
            <a:avLst>
              <a:gd name="adj" fmla="val 50000"/>
            </a:avLst>
          </a:prstGeom>
          <a:solidFill>
            <a:srgbClr val="0F172A"/>
          </a:solidFill>
          <a:ln w="9525">
            <a:solidFill>
              <a:srgbClr val="0F172A"/>
            </a:solidFill>
            <a:prstDash val="solid"/>
          </a:ln>
        </p:spPr>
        <p:txBody>
          <a:bodyPr/>
          <a:lstStyle/>
          <a:p>
            <a:endParaRPr lang="en-US"/>
          </a:p>
        </p:txBody>
      </p:sp>
      <p:sp>
        <p:nvSpPr>
          <p:cNvPr id="11" name="Rectangle 10">
            <a:extLst>
              <a:ext uri="{FF2B5EF4-FFF2-40B4-BE49-F238E27FC236}">
                <a16:creationId xmlns:a16="http://schemas.microsoft.com/office/drawing/2014/main" id="{9A614F8B-E05E-4AD0-AB10-2E95D35A14C8}"/>
              </a:ext>
            </a:extLst>
          </p:cNvPr>
          <p:cNvSpPr>
            <a:spLocks noGrp="1"/>
          </p:cNvSpPr>
          <p:nvPr/>
        </p:nvSpPr>
        <p:spPr>
          <a:xfrm>
            <a:off x="781050" y="2886075"/>
            <a:ext cx="419100" cy="419100"/>
          </a:xfrm>
          <a:prstGeom prst="rect">
            <a:avLst/>
          </a:prstGeom>
          <a:noFill/>
          <a:ln w="0">
            <a:noFill/>
            <a:prstDash val="solid"/>
          </a:ln>
        </p:spPr>
        <p:txBody>
          <a:bodyPr anchor="ctr"/>
          <a:lstStyle/>
          <a:p>
            <a:pPr algn="ctr">
              <a:defRPr sz="1950" b="1">
                <a:solidFill>
                  <a:srgbClr val="FFFFFF"/>
                </a:solidFill>
                <a:latin typeface="Aptos"/>
                <a:ea typeface="Aptos"/>
                <a:cs typeface="Aptos"/>
              </a:defRPr>
            </a:pPr>
            <a:r>
              <a:rPr sz="1950" b="1">
                <a:solidFill>
                  <a:srgbClr val="FFFFFF"/>
                </a:solidFill>
                <a:latin typeface="Aptos"/>
                <a:ea typeface="Aptos"/>
                <a:cs typeface="Aptos"/>
              </a:rPr>
              <a:t>2</a:t>
            </a:r>
          </a:p>
        </p:txBody>
      </p:sp>
      <p:sp>
        <p:nvSpPr>
          <p:cNvPr id="12" name="Rectangle 11">
            <a:extLst>
              <a:ext uri="{FF2B5EF4-FFF2-40B4-BE49-F238E27FC236}">
                <a16:creationId xmlns:a16="http://schemas.microsoft.com/office/drawing/2014/main" id="{4698603B-465A-45F7-ABEA-352A4F08C9D3}"/>
              </a:ext>
            </a:extLst>
          </p:cNvPr>
          <p:cNvSpPr>
            <a:spLocks noGrp="1"/>
          </p:cNvSpPr>
          <p:nvPr/>
        </p:nvSpPr>
        <p:spPr>
          <a:xfrm>
            <a:off x="1524000" y="2905125"/>
            <a:ext cx="25717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Launch scenario</a:t>
            </a:r>
          </a:p>
        </p:txBody>
      </p:sp>
      <p:sp>
        <p:nvSpPr>
          <p:cNvPr id="13" name="Rectangle 12">
            <a:extLst>
              <a:ext uri="{FF2B5EF4-FFF2-40B4-BE49-F238E27FC236}">
                <a16:creationId xmlns:a16="http://schemas.microsoft.com/office/drawing/2014/main" id="{96AAEBD8-1E05-43BA-B86D-DBECB0DFE85B}"/>
              </a:ext>
            </a:extLst>
          </p:cNvPr>
          <p:cNvSpPr>
            <a:spLocks noGrp="1"/>
          </p:cNvSpPr>
          <p:nvPr/>
        </p:nvSpPr>
        <p:spPr>
          <a:xfrm>
            <a:off x="4286250" y="2933700"/>
            <a:ext cx="6191250" cy="24765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Choose DB Pool Exhaustion and open incident.</a:t>
            </a:r>
          </a:p>
        </p:txBody>
      </p:sp>
      <p:sp>
        <p:nvSpPr>
          <p:cNvPr id="14" name="Rectangle: Rounded Corners 13">
            <a:extLst>
              <a:ext uri="{FF2B5EF4-FFF2-40B4-BE49-F238E27FC236}">
                <a16:creationId xmlns:a16="http://schemas.microsoft.com/office/drawing/2014/main" id="{6129B9A8-422B-40EA-A358-5D0E19EA5588}"/>
              </a:ext>
            </a:extLst>
          </p:cNvPr>
          <p:cNvSpPr>
            <a:spLocks noGrp="1"/>
          </p:cNvSpPr>
          <p:nvPr/>
        </p:nvSpPr>
        <p:spPr>
          <a:xfrm>
            <a:off x="723900" y="3419475"/>
            <a:ext cx="533400" cy="457200"/>
          </a:xfrm>
          <a:prstGeom prst="roundRect">
            <a:avLst>
              <a:gd name="adj" fmla="val 50000"/>
            </a:avLst>
          </a:prstGeom>
          <a:solidFill>
            <a:srgbClr val="0F172A"/>
          </a:solidFill>
          <a:ln w="9525">
            <a:solidFill>
              <a:srgbClr val="0F172A"/>
            </a:solidFill>
            <a:prstDash val="solid"/>
          </a:ln>
        </p:spPr>
        <p:txBody>
          <a:bodyPr/>
          <a:lstStyle/>
          <a:p>
            <a:endParaRPr lang="en-US"/>
          </a:p>
        </p:txBody>
      </p:sp>
      <p:sp>
        <p:nvSpPr>
          <p:cNvPr id="15" name="Rectangle 14">
            <a:extLst>
              <a:ext uri="{FF2B5EF4-FFF2-40B4-BE49-F238E27FC236}">
                <a16:creationId xmlns:a16="http://schemas.microsoft.com/office/drawing/2014/main" id="{E9C9702F-53EE-4ECB-92AC-ADC67D3D7CFC}"/>
              </a:ext>
            </a:extLst>
          </p:cNvPr>
          <p:cNvSpPr>
            <a:spLocks noGrp="1"/>
          </p:cNvSpPr>
          <p:nvPr/>
        </p:nvSpPr>
        <p:spPr>
          <a:xfrm>
            <a:off x="781050" y="3438525"/>
            <a:ext cx="419100" cy="419100"/>
          </a:xfrm>
          <a:prstGeom prst="rect">
            <a:avLst/>
          </a:prstGeom>
          <a:noFill/>
          <a:ln w="0">
            <a:noFill/>
            <a:prstDash val="solid"/>
          </a:ln>
        </p:spPr>
        <p:txBody>
          <a:bodyPr anchor="ctr"/>
          <a:lstStyle/>
          <a:p>
            <a:pPr algn="ctr">
              <a:defRPr sz="1950" b="1">
                <a:solidFill>
                  <a:srgbClr val="FFFFFF"/>
                </a:solidFill>
                <a:latin typeface="Aptos"/>
                <a:ea typeface="Aptos"/>
                <a:cs typeface="Aptos"/>
              </a:defRPr>
            </a:pPr>
            <a:r>
              <a:rPr sz="1950" b="1">
                <a:solidFill>
                  <a:srgbClr val="FFFFFF"/>
                </a:solidFill>
                <a:latin typeface="Aptos"/>
                <a:ea typeface="Aptos"/>
                <a:cs typeface="Aptos"/>
              </a:rPr>
              <a:t>3</a:t>
            </a:r>
          </a:p>
        </p:txBody>
      </p:sp>
      <p:sp>
        <p:nvSpPr>
          <p:cNvPr id="16" name="Rectangle 15">
            <a:extLst>
              <a:ext uri="{FF2B5EF4-FFF2-40B4-BE49-F238E27FC236}">
                <a16:creationId xmlns:a16="http://schemas.microsoft.com/office/drawing/2014/main" id="{5AB518FF-A4C5-4DD2-B527-027D02656FA3}"/>
              </a:ext>
            </a:extLst>
          </p:cNvPr>
          <p:cNvSpPr>
            <a:spLocks noGrp="1"/>
          </p:cNvSpPr>
          <p:nvPr/>
        </p:nvSpPr>
        <p:spPr>
          <a:xfrm>
            <a:off x="1524000" y="3457575"/>
            <a:ext cx="25717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Overview</a:t>
            </a:r>
          </a:p>
        </p:txBody>
      </p:sp>
      <p:sp>
        <p:nvSpPr>
          <p:cNvPr id="17" name="Rectangle 16">
            <a:extLst>
              <a:ext uri="{FF2B5EF4-FFF2-40B4-BE49-F238E27FC236}">
                <a16:creationId xmlns:a16="http://schemas.microsoft.com/office/drawing/2014/main" id="{D125CCBC-AD0E-4CF3-B372-C773763DB020}"/>
              </a:ext>
            </a:extLst>
          </p:cNvPr>
          <p:cNvSpPr>
            <a:spLocks noGrp="1"/>
          </p:cNvSpPr>
          <p:nvPr/>
        </p:nvSpPr>
        <p:spPr>
          <a:xfrm>
            <a:off x="4286250" y="3486150"/>
            <a:ext cx="6191250" cy="24765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Read RCA, confidence, impact, summaries.</a:t>
            </a:r>
          </a:p>
        </p:txBody>
      </p:sp>
      <p:sp>
        <p:nvSpPr>
          <p:cNvPr id="18" name="Rectangle: Rounded Corners 17">
            <a:extLst>
              <a:ext uri="{FF2B5EF4-FFF2-40B4-BE49-F238E27FC236}">
                <a16:creationId xmlns:a16="http://schemas.microsoft.com/office/drawing/2014/main" id="{E3EF0DF5-0541-4D31-8FB3-4CA1B3841453}"/>
              </a:ext>
            </a:extLst>
          </p:cNvPr>
          <p:cNvSpPr>
            <a:spLocks noGrp="1"/>
          </p:cNvSpPr>
          <p:nvPr/>
        </p:nvSpPr>
        <p:spPr>
          <a:xfrm>
            <a:off x="723900" y="3971925"/>
            <a:ext cx="533400" cy="457200"/>
          </a:xfrm>
          <a:prstGeom prst="roundRect">
            <a:avLst>
              <a:gd name="adj" fmla="val 50000"/>
            </a:avLst>
          </a:prstGeom>
          <a:solidFill>
            <a:srgbClr val="0F172A"/>
          </a:solidFill>
          <a:ln w="9525">
            <a:solidFill>
              <a:srgbClr val="0F172A"/>
            </a:solidFill>
            <a:prstDash val="solid"/>
          </a:ln>
        </p:spPr>
        <p:txBody>
          <a:bodyPr/>
          <a:lstStyle/>
          <a:p>
            <a:endParaRPr lang="en-US"/>
          </a:p>
        </p:txBody>
      </p:sp>
      <p:sp>
        <p:nvSpPr>
          <p:cNvPr id="19" name="Rectangle 18">
            <a:extLst>
              <a:ext uri="{FF2B5EF4-FFF2-40B4-BE49-F238E27FC236}">
                <a16:creationId xmlns:a16="http://schemas.microsoft.com/office/drawing/2014/main" id="{3B566B91-6080-47FC-AEB8-23998B61CA2D}"/>
              </a:ext>
            </a:extLst>
          </p:cNvPr>
          <p:cNvSpPr>
            <a:spLocks noGrp="1"/>
          </p:cNvSpPr>
          <p:nvPr/>
        </p:nvSpPr>
        <p:spPr>
          <a:xfrm>
            <a:off x="781050" y="3990975"/>
            <a:ext cx="419100" cy="419100"/>
          </a:xfrm>
          <a:prstGeom prst="rect">
            <a:avLst/>
          </a:prstGeom>
          <a:noFill/>
          <a:ln w="0">
            <a:noFill/>
            <a:prstDash val="solid"/>
          </a:ln>
        </p:spPr>
        <p:txBody>
          <a:bodyPr anchor="ctr"/>
          <a:lstStyle/>
          <a:p>
            <a:pPr algn="ctr">
              <a:defRPr sz="1950" b="1">
                <a:solidFill>
                  <a:srgbClr val="FFFFFF"/>
                </a:solidFill>
                <a:latin typeface="Aptos"/>
                <a:ea typeface="Aptos"/>
                <a:cs typeface="Aptos"/>
              </a:defRPr>
            </a:pPr>
            <a:r>
              <a:rPr sz="1950" b="1">
                <a:solidFill>
                  <a:srgbClr val="FFFFFF"/>
                </a:solidFill>
                <a:latin typeface="Aptos"/>
                <a:ea typeface="Aptos"/>
                <a:cs typeface="Aptos"/>
              </a:rPr>
              <a:t>4</a:t>
            </a:r>
          </a:p>
        </p:txBody>
      </p:sp>
      <p:sp>
        <p:nvSpPr>
          <p:cNvPr id="20" name="Rectangle 19">
            <a:extLst>
              <a:ext uri="{FF2B5EF4-FFF2-40B4-BE49-F238E27FC236}">
                <a16:creationId xmlns:a16="http://schemas.microsoft.com/office/drawing/2014/main" id="{F277040B-1701-4770-A063-D3F0D21E93E1}"/>
              </a:ext>
            </a:extLst>
          </p:cNvPr>
          <p:cNvSpPr>
            <a:spLocks noGrp="1"/>
          </p:cNvSpPr>
          <p:nvPr/>
        </p:nvSpPr>
        <p:spPr>
          <a:xfrm>
            <a:off x="1524000" y="4010025"/>
            <a:ext cx="25717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Evidence</a:t>
            </a:r>
          </a:p>
        </p:txBody>
      </p:sp>
      <p:sp>
        <p:nvSpPr>
          <p:cNvPr id="21" name="Rectangle 20">
            <a:extLst>
              <a:ext uri="{FF2B5EF4-FFF2-40B4-BE49-F238E27FC236}">
                <a16:creationId xmlns:a16="http://schemas.microsoft.com/office/drawing/2014/main" id="{37784DCE-6B93-4BA1-A5DC-68B71B8F7ECF}"/>
              </a:ext>
            </a:extLst>
          </p:cNvPr>
          <p:cNvSpPr>
            <a:spLocks noGrp="1"/>
          </p:cNvSpPr>
          <p:nvPr/>
        </p:nvSpPr>
        <p:spPr>
          <a:xfrm>
            <a:off x="4286250" y="4038600"/>
            <a:ext cx="6191250" cy="24765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Show claim-to-raw-fact grounding.</a:t>
            </a:r>
          </a:p>
        </p:txBody>
      </p:sp>
      <p:sp>
        <p:nvSpPr>
          <p:cNvPr id="22" name="Rectangle: Rounded Corners 21">
            <a:extLst>
              <a:ext uri="{FF2B5EF4-FFF2-40B4-BE49-F238E27FC236}">
                <a16:creationId xmlns:a16="http://schemas.microsoft.com/office/drawing/2014/main" id="{6C4F00D6-4621-4B38-9F96-8B476F286D08}"/>
              </a:ext>
            </a:extLst>
          </p:cNvPr>
          <p:cNvSpPr>
            <a:spLocks noGrp="1"/>
          </p:cNvSpPr>
          <p:nvPr/>
        </p:nvSpPr>
        <p:spPr>
          <a:xfrm>
            <a:off x="723900" y="4524375"/>
            <a:ext cx="533400" cy="457200"/>
          </a:xfrm>
          <a:prstGeom prst="roundRect">
            <a:avLst>
              <a:gd name="adj" fmla="val 50000"/>
            </a:avLst>
          </a:prstGeom>
          <a:solidFill>
            <a:srgbClr val="0F172A"/>
          </a:solidFill>
          <a:ln w="9525">
            <a:solidFill>
              <a:srgbClr val="0F172A"/>
            </a:solidFill>
            <a:prstDash val="solid"/>
          </a:ln>
        </p:spPr>
        <p:txBody>
          <a:bodyPr/>
          <a:lstStyle/>
          <a:p>
            <a:endParaRPr lang="en-US"/>
          </a:p>
        </p:txBody>
      </p:sp>
      <p:sp>
        <p:nvSpPr>
          <p:cNvPr id="23" name="Rectangle 22">
            <a:extLst>
              <a:ext uri="{FF2B5EF4-FFF2-40B4-BE49-F238E27FC236}">
                <a16:creationId xmlns:a16="http://schemas.microsoft.com/office/drawing/2014/main" id="{5142D999-5DE3-430E-B040-A4F1F8DFE566}"/>
              </a:ext>
            </a:extLst>
          </p:cNvPr>
          <p:cNvSpPr>
            <a:spLocks noGrp="1"/>
          </p:cNvSpPr>
          <p:nvPr/>
        </p:nvSpPr>
        <p:spPr>
          <a:xfrm>
            <a:off x="781050" y="4543425"/>
            <a:ext cx="419100" cy="419100"/>
          </a:xfrm>
          <a:prstGeom prst="rect">
            <a:avLst/>
          </a:prstGeom>
          <a:noFill/>
          <a:ln w="0">
            <a:noFill/>
            <a:prstDash val="solid"/>
          </a:ln>
        </p:spPr>
        <p:txBody>
          <a:bodyPr anchor="ctr"/>
          <a:lstStyle/>
          <a:p>
            <a:pPr algn="ctr">
              <a:defRPr sz="1950" b="1">
                <a:solidFill>
                  <a:srgbClr val="FFFFFF"/>
                </a:solidFill>
                <a:latin typeface="Aptos"/>
                <a:ea typeface="Aptos"/>
                <a:cs typeface="Aptos"/>
              </a:defRPr>
            </a:pPr>
            <a:r>
              <a:rPr sz="1950" b="1">
                <a:solidFill>
                  <a:srgbClr val="FFFFFF"/>
                </a:solidFill>
                <a:latin typeface="Aptos"/>
                <a:ea typeface="Aptos"/>
                <a:cs typeface="Aptos"/>
              </a:rPr>
              <a:t>5</a:t>
            </a:r>
          </a:p>
        </p:txBody>
      </p:sp>
      <p:sp>
        <p:nvSpPr>
          <p:cNvPr id="24" name="Rectangle 23">
            <a:extLst>
              <a:ext uri="{FF2B5EF4-FFF2-40B4-BE49-F238E27FC236}">
                <a16:creationId xmlns:a16="http://schemas.microsoft.com/office/drawing/2014/main" id="{1ACC0C6A-7534-45F0-9C0D-0D0655460109}"/>
              </a:ext>
            </a:extLst>
          </p:cNvPr>
          <p:cNvSpPr>
            <a:spLocks noGrp="1"/>
          </p:cNvSpPr>
          <p:nvPr/>
        </p:nvSpPr>
        <p:spPr>
          <a:xfrm>
            <a:off x="1524000" y="4562475"/>
            <a:ext cx="25717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Review</a:t>
            </a:r>
          </a:p>
        </p:txBody>
      </p:sp>
      <p:sp>
        <p:nvSpPr>
          <p:cNvPr id="25" name="Rectangle 24">
            <a:extLst>
              <a:ext uri="{FF2B5EF4-FFF2-40B4-BE49-F238E27FC236}">
                <a16:creationId xmlns:a16="http://schemas.microsoft.com/office/drawing/2014/main" id="{9B546233-005D-4CB6-B123-21FB8AC621EC}"/>
              </a:ext>
            </a:extLst>
          </p:cNvPr>
          <p:cNvSpPr>
            <a:spLocks noGrp="1"/>
          </p:cNvSpPr>
          <p:nvPr/>
        </p:nvSpPr>
        <p:spPr>
          <a:xfrm>
            <a:off x="4286250" y="4591050"/>
            <a:ext cx="6191250" cy="24765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Accept/request more data and approve remediation.</a:t>
            </a:r>
          </a:p>
        </p:txBody>
      </p:sp>
      <p:sp>
        <p:nvSpPr>
          <p:cNvPr id="26" name="Rectangle: Rounded Corners 25">
            <a:extLst>
              <a:ext uri="{FF2B5EF4-FFF2-40B4-BE49-F238E27FC236}">
                <a16:creationId xmlns:a16="http://schemas.microsoft.com/office/drawing/2014/main" id="{8C20646F-C663-4377-A034-17C532E2A6B3}"/>
              </a:ext>
            </a:extLst>
          </p:cNvPr>
          <p:cNvSpPr>
            <a:spLocks noGrp="1"/>
          </p:cNvSpPr>
          <p:nvPr/>
        </p:nvSpPr>
        <p:spPr>
          <a:xfrm>
            <a:off x="723900" y="5076825"/>
            <a:ext cx="533400" cy="457200"/>
          </a:xfrm>
          <a:prstGeom prst="roundRect">
            <a:avLst>
              <a:gd name="adj" fmla="val 50000"/>
            </a:avLst>
          </a:prstGeom>
          <a:solidFill>
            <a:srgbClr val="0F172A"/>
          </a:solidFill>
          <a:ln w="9525">
            <a:solidFill>
              <a:srgbClr val="0F172A"/>
            </a:solidFill>
            <a:prstDash val="solid"/>
          </a:ln>
        </p:spPr>
        <p:txBody>
          <a:bodyPr/>
          <a:lstStyle/>
          <a:p>
            <a:endParaRPr lang="en-US"/>
          </a:p>
        </p:txBody>
      </p:sp>
      <p:sp>
        <p:nvSpPr>
          <p:cNvPr id="27" name="Rectangle 26">
            <a:extLst>
              <a:ext uri="{FF2B5EF4-FFF2-40B4-BE49-F238E27FC236}">
                <a16:creationId xmlns:a16="http://schemas.microsoft.com/office/drawing/2014/main" id="{D08CC57C-36F6-4FD7-AC15-7A1F5D03E90E}"/>
              </a:ext>
            </a:extLst>
          </p:cNvPr>
          <p:cNvSpPr>
            <a:spLocks noGrp="1"/>
          </p:cNvSpPr>
          <p:nvPr/>
        </p:nvSpPr>
        <p:spPr>
          <a:xfrm>
            <a:off x="781050" y="5095875"/>
            <a:ext cx="419100" cy="419100"/>
          </a:xfrm>
          <a:prstGeom prst="rect">
            <a:avLst/>
          </a:prstGeom>
          <a:noFill/>
          <a:ln w="0">
            <a:noFill/>
            <a:prstDash val="solid"/>
          </a:ln>
        </p:spPr>
        <p:txBody>
          <a:bodyPr anchor="ctr"/>
          <a:lstStyle/>
          <a:p>
            <a:pPr algn="ctr">
              <a:defRPr sz="1950" b="1">
                <a:solidFill>
                  <a:srgbClr val="FFFFFF"/>
                </a:solidFill>
                <a:latin typeface="Aptos"/>
                <a:ea typeface="Aptos"/>
                <a:cs typeface="Aptos"/>
              </a:defRPr>
            </a:pPr>
            <a:r>
              <a:rPr sz="1950" b="1">
                <a:solidFill>
                  <a:srgbClr val="FFFFFF"/>
                </a:solidFill>
                <a:latin typeface="Aptos"/>
                <a:ea typeface="Aptos"/>
                <a:cs typeface="Aptos"/>
              </a:rPr>
              <a:t>6</a:t>
            </a:r>
          </a:p>
        </p:txBody>
      </p:sp>
      <p:sp>
        <p:nvSpPr>
          <p:cNvPr id="28" name="Rectangle 27">
            <a:extLst>
              <a:ext uri="{FF2B5EF4-FFF2-40B4-BE49-F238E27FC236}">
                <a16:creationId xmlns:a16="http://schemas.microsoft.com/office/drawing/2014/main" id="{66995804-5C06-43D3-A770-C4D29E2F48A5}"/>
              </a:ext>
            </a:extLst>
          </p:cNvPr>
          <p:cNvSpPr>
            <a:spLocks noGrp="1"/>
          </p:cNvSpPr>
          <p:nvPr/>
        </p:nvSpPr>
        <p:spPr>
          <a:xfrm>
            <a:off x="1524000" y="5114925"/>
            <a:ext cx="2571750" cy="266700"/>
          </a:xfrm>
          <a:prstGeom prst="rect">
            <a:avLst/>
          </a:prstGeom>
          <a:noFill/>
          <a:ln w="0">
            <a:noFill/>
            <a:prstDash val="solid"/>
          </a:ln>
        </p:spPr>
        <p:txBody>
          <a:bodyPr anchor="t"/>
          <a:lstStyle/>
          <a:p>
            <a:pPr algn="l">
              <a:defRPr sz="1725" b="1">
                <a:solidFill>
                  <a:srgbClr val="0F172A"/>
                </a:solidFill>
                <a:latin typeface="Aptos"/>
                <a:ea typeface="Aptos"/>
                <a:cs typeface="Aptos"/>
              </a:defRPr>
            </a:pPr>
            <a:r>
              <a:rPr sz="1725" b="1">
                <a:solidFill>
                  <a:srgbClr val="0F172A"/>
                </a:solidFill>
                <a:latin typeface="Aptos"/>
                <a:ea typeface="Aptos"/>
                <a:cs typeface="Aptos"/>
              </a:rPr>
              <a:t>Trace/export</a:t>
            </a:r>
          </a:p>
        </p:txBody>
      </p:sp>
      <p:sp>
        <p:nvSpPr>
          <p:cNvPr id="29" name="Rectangle 28">
            <a:extLst>
              <a:ext uri="{FF2B5EF4-FFF2-40B4-BE49-F238E27FC236}">
                <a16:creationId xmlns:a16="http://schemas.microsoft.com/office/drawing/2014/main" id="{735BED00-ED59-42F0-B44A-0F3A8A61FFDE}"/>
              </a:ext>
            </a:extLst>
          </p:cNvPr>
          <p:cNvSpPr>
            <a:spLocks noGrp="1"/>
          </p:cNvSpPr>
          <p:nvPr/>
        </p:nvSpPr>
        <p:spPr>
          <a:xfrm>
            <a:off x="4286250" y="5143500"/>
            <a:ext cx="6191250" cy="247650"/>
          </a:xfrm>
          <a:prstGeom prst="rect">
            <a:avLst/>
          </a:prstGeom>
          <a:noFill/>
          <a:ln w="0">
            <a:noFill/>
            <a:prstDash val="solid"/>
          </a:ln>
        </p:spPr>
        <p:txBody>
          <a:bodyPr anchor="t"/>
          <a:lstStyle/>
          <a:p>
            <a:pPr algn="l">
              <a:defRPr sz="1350" b="0">
                <a:solidFill>
                  <a:srgbClr val="64748B"/>
                </a:solidFill>
                <a:latin typeface="Aptos"/>
                <a:ea typeface="Aptos"/>
                <a:cs typeface="Aptos"/>
              </a:defRPr>
            </a:pPr>
            <a:r>
              <a:rPr sz="1350" b="0">
                <a:solidFill>
                  <a:srgbClr val="64748B"/>
                </a:solidFill>
                <a:latin typeface="Aptos"/>
                <a:ea typeface="Aptos"/>
                <a:cs typeface="Aptos"/>
              </a:rPr>
              <a:t>Show agent spans and download postmortem.</a:t>
            </a:r>
          </a:p>
        </p:txBody>
      </p:sp>
    </p:spTree>
    <p:extLst>
      <p:ext uri="{BB962C8B-B14F-4D97-AF65-F5344CB8AC3E}">
        <p14:creationId xmlns:p14="http://schemas.microsoft.com/office/powerpoint/2010/main" val="1822173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E71D07-C3AD-4A8E-AF4B-D1804C94E4EE}"/>
              </a:ext>
            </a:extLst>
          </p:cNvPr>
          <p:cNvSpPr>
            <a:spLocks noGrp="1"/>
          </p:cNvSpPr>
          <p:nvPr/>
        </p:nvSpPr>
        <p:spPr>
          <a:xfrm>
            <a:off x="514350" y="495300"/>
            <a:ext cx="2476500" cy="266700"/>
          </a:xfrm>
          <a:prstGeom prst="rect">
            <a:avLst/>
          </a:prstGeom>
          <a:noFill/>
          <a:ln w="0">
            <a:noFill/>
            <a:prstDash val="solid"/>
          </a:ln>
        </p:spPr>
        <p:txBody>
          <a:bodyPr anchor="t"/>
          <a:lstStyle/>
          <a:p>
            <a:pPr algn="l">
              <a:defRPr sz="1200" b="1">
                <a:solidFill>
                  <a:srgbClr val="38BDF8"/>
                </a:solidFill>
                <a:latin typeface="Aptos"/>
                <a:ea typeface="Aptos"/>
                <a:cs typeface="Aptos"/>
              </a:defRPr>
            </a:pPr>
            <a:r>
              <a:rPr sz="1200" b="1">
                <a:solidFill>
                  <a:srgbClr val="38BDF8"/>
                </a:solidFill>
                <a:latin typeface="Aptos"/>
                <a:ea typeface="Aptos"/>
                <a:cs typeface="Aptos"/>
              </a:rPr>
              <a:t>FINAL TAKEAWAY</a:t>
            </a:r>
          </a:p>
        </p:txBody>
      </p:sp>
      <p:sp>
        <p:nvSpPr>
          <p:cNvPr id="2" name="Rectangle 1">
            <a:extLst>
              <a:ext uri="{FF2B5EF4-FFF2-40B4-BE49-F238E27FC236}">
                <a16:creationId xmlns:a16="http://schemas.microsoft.com/office/drawing/2014/main" id="{03C4CC7F-6964-480C-8FCE-53A41089AC18}"/>
              </a:ext>
            </a:extLst>
          </p:cNvPr>
          <p:cNvSpPr>
            <a:spLocks noGrp="1"/>
          </p:cNvSpPr>
          <p:nvPr/>
        </p:nvSpPr>
        <p:spPr>
          <a:xfrm>
            <a:off x="514350" y="1524000"/>
            <a:ext cx="8763000" cy="1809750"/>
          </a:xfrm>
          <a:prstGeom prst="rect">
            <a:avLst/>
          </a:prstGeom>
          <a:noFill/>
          <a:ln w="0">
            <a:noFill/>
            <a:prstDash val="solid"/>
          </a:ln>
        </p:spPr>
        <p:txBody>
          <a:bodyPr anchor="t"/>
          <a:lstStyle/>
          <a:p>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The system makes AI incident response explainable, reviewable, and ready for operations.</a:t>
            </a:r>
          </a:p>
        </p:txBody>
      </p:sp>
      <p:sp>
        <p:nvSpPr>
          <p:cNvPr id="3" name="Rectangle 2">
            <a:extLst>
              <a:ext uri="{FF2B5EF4-FFF2-40B4-BE49-F238E27FC236}">
                <a16:creationId xmlns:a16="http://schemas.microsoft.com/office/drawing/2014/main" id="{50A6A236-F01A-4CA9-A999-CE1B55A47878}"/>
              </a:ext>
            </a:extLst>
          </p:cNvPr>
          <p:cNvSpPr>
            <a:spLocks noGrp="1"/>
          </p:cNvSpPr>
          <p:nvPr/>
        </p:nvSpPr>
        <p:spPr>
          <a:xfrm>
            <a:off x="533400" y="3771900"/>
            <a:ext cx="3429000" cy="323850"/>
          </a:xfrm>
          <a:prstGeom prst="rect">
            <a:avLst/>
          </a:prstGeom>
          <a:noFill/>
          <a:ln w="0">
            <a:noFill/>
            <a:prstDash val="solid"/>
          </a:ln>
        </p:spPr>
        <p:txBody>
          <a:bodyPr anchor="t"/>
          <a:lstStyle/>
          <a:p>
            <a:pPr algn="l">
              <a:defRPr sz="1875" b="1">
                <a:solidFill>
                  <a:srgbClr val="FFFFFF"/>
                </a:solidFill>
                <a:latin typeface="Aptos"/>
                <a:ea typeface="Aptos"/>
                <a:cs typeface="Aptos"/>
              </a:defRPr>
            </a:pPr>
            <a:r>
              <a:rPr sz="1875" b="1" dirty="0">
                <a:solidFill>
                  <a:srgbClr val="FFFFFF"/>
                </a:solidFill>
                <a:latin typeface="Aptos"/>
                <a:ea typeface="Aptos"/>
                <a:cs typeface="Aptos"/>
              </a:rPr>
              <a:t>What to leave the audience with</a:t>
            </a:r>
          </a:p>
        </p:txBody>
      </p:sp>
      <p:sp>
        <p:nvSpPr>
          <p:cNvPr id="4" name="Rectangle 3">
            <a:extLst>
              <a:ext uri="{FF2B5EF4-FFF2-40B4-BE49-F238E27FC236}">
                <a16:creationId xmlns:a16="http://schemas.microsoft.com/office/drawing/2014/main" id="{7CA52456-4FAD-410F-BFB6-26075C718D2E}"/>
              </a:ext>
            </a:extLst>
          </p:cNvPr>
          <p:cNvSpPr>
            <a:spLocks noGrp="1"/>
          </p:cNvSpPr>
          <p:nvPr/>
        </p:nvSpPr>
        <p:spPr>
          <a:xfrm>
            <a:off x="590550" y="4400550"/>
            <a:ext cx="8001000" cy="1143000"/>
          </a:xfrm>
          <a:prstGeom prst="rect">
            <a:avLst/>
          </a:prstGeom>
          <a:noFill/>
          <a:ln w="0">
            <a:noFill/>
            <a:prstDash val="solid"/>
          </a:ln>
        </p:spPr>
        <p:txBody>
          <a:bodyPr anchor="t"/>
          <a:lstStyle/>
          <a:p>
            <a:pPr algn="l">
              <a:defRPr sz="1650" b="0">
                <a:solidFill>
                  <a:srgbClr val="CBD5E1"/>
                </a:solidFill>
                <a:latin typeface="Aptos"/>
                <a:ea typeface="Aptos"/>
                <a:cs typeface="Aptos"/>
              </a:defRPr>
            </a:pPr>
            <a:r>
              <a:rPr sz="1650" b="0">
                <a:solidFill>
                  <a:srgbClr val="CBD5E1"/>
                </a:solidFill>
                <a:latin typeface="Aptos"/>
                <a:ea typeface="Aptos"/>
                <a:cs typeface="Aptos"/>
              </a:rPr>
              <a:t>• Agents reduce investigation effort by collecting, correlating, and summarizing signals.</a:t>
            </a:r>
          </a:p>
          <a:p>
            <a:pPr algn="l">
              <a:defRPr sz="1650" b="0">
                <a:solidFill>
                  <a:srgbClr val="CBD5E1"/>
                </a:solidFill>
                <a:latin typeface="Aptos"/>
                <a:ea typeface="Aptos"/>
                <a:cs typeface="Aptos"/>
              </a:defRPr>
            </a:pPr>
            <a:r>
              <a:rPr sz="1650" b="0">
                <a:solidFill>
                  <a:srgbClr val="CBD5E1"/>
                </a:solidFill>
                <a:latin typeface="Aptos"/>
                <a:ea typeface="Aptos"/>
                <a:cs typeface="Aptos"/>
              </a:rPr>
              <a:t>• Evidence references and trace spans make the RCA inspectable.</a:t>
            </a:r>
          </a:p>
          <a:p>
            <a:pPr algn="l">
              <a:defRPr sz="1650" b="0">
                <a:solidFill>
                  <a:srgbClr val="CBD5E1"/>
                </a:solidFill>
                <a:latin typeface="Aptos"/>
                <a:ea typeface="Aptos"/>
                <a:cs typeface="Aptos"/>
              </a:defRPr>
            </a:pPr>
            <a:r>
              <a:rPr sz="1650" b="0">
                <a:solidFill>
                  <a:srgbClr val="CBD5E1"/>
                </a:solidFill>
                <a:latin typeface="Aptos"/>
                <a:ea typeface="Aptos"/>
                <a:cs typeface="Aptos"/>
              </a:rPr>
              <a:t>• Human review endpoints keep production decisions governed.</a:t>
            </a:r>
          </a:p>
          <a:p>
            <a:pPr algn="l">
              <a:defRPr sz="1650" b="0">
                <a:solidFill>
                  <a:srgbClr val="CBD5E1"/>
                </a:solidFill>
                <a:latin typeface="Aptos"/>
                <a:ea typeface="Aptos"/>
                <a:cs typeface="Aptos"/>
              </a:defRPr>
            </a:pPr>
            <a:r>
              <a:rPr sz="1650" b="0">
                <a:solidFill>
                  <a:srgbClr val="CBD5E1"/>
                </a:solidFill>
                <a:latin typeface="Aptos"/>
                <a:ea typeface="Aptos"/>
                <a:cs typeface="Aptos"/>
              </a:rPr>
              <a:t>• Postmortem export turns each run into reusable operational knowledge.</a:t>
            </a:r>
          </a:p>
        </p:txBody>
      </p:sp>
      <p:sp>
        <p:nvSpPr>
          <p:cNvPr id="5" name="Rectangle 4">
            <a:extLst>
              <a:ext uri="{FF2B5EF4-FFF2-40B4-BE49-F238E27FC236}">
                <a16:creationId xmlns:a16="http://schemas.microsoft.com/office/drawing/2014/main" id="{297441DE-2F00-4EEA-8D47-5794784002CD}"/>
              </a:ext>
            </a:extLst>
          </p:cNvPr>
          <p:cNvSpPr>
            <a:spLocks noGrp="1"/>
          </p:cNvSpPr>
          <p:nvPr/>
        </p:nvSpPr>
        <p:spPr>
          <a:xfrm>
            <a:off x="590550" y="5924550"/>
            <a:ext cx="9334500" cy="323850"/>
          </a:xfrm>
          <a:prstGeom prst="rect">
            <a:avLst/>
          </a:prstGeom>
          <a:noFill/>
          <a:ln w="0">
            <a:noFill/>
            <a:prstDash val="solid"/>
          </a:ln>
        </p:spPr>
        <p:txBody>
          <a:bodyPr anchor="t"/>
          <a:lstStyle/>
          <a:p>
            <a:pPr algn="l">
              <a:defRPr sz="1350" b="1">
                <a:solidFill>
                  <a:srgbClr val="94A3B8"/>
                </a:solidFill>
                <a:latin typeface="Aptos"/>
                <a:ea typeface="Aptos"/>
                <a:cs typeface="Aptos"/>
              </a:defRPr>
            </a:pPr>
            <a:r>
              <a:rPr sz="1350" b="1">
                <a:solidFill>
                  <a:srgbClr val="94A3B8"/>
                </a:solidFill>
                <a:latin typeface="Aptos"/>
                <a:ea typeface="Aptos"/>
                <a:cs typeface="Aptos"/>
              </a:rPr>
              <a:t>Recommended close: “This is not autonomous firefighting; it is agent-assisted incident command.”</a:t>
            </a:r>
          </a:p>
        </p:txBody>
      </p:sp>
    </p:spTree>
    <p:extLst>
      <p:ext uri="{BB962C8B-B14F-4D97-AF65-F5344CB8AC3E}">
        <p14:creationId xmlns:p14="http://schemas.microsoft.com/office/powerpoint/2010/main" val="15579236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1730</Words>
  <Application>Microsoft Office PowerPoint</Application>
  <DocSecurity>0</DocSecurity>
  <PresentationFormat>Widescreen</PresentationFormat>
  <Paragraphs>171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Anujay Saraf</cp:lastModifiedBy>
  <cp:revision>1</cp:revision>
  <dcterms:created xsi:type="dcterms:W3CDTF">2026-07-09T18:08:43Z</dcterms:created>
  <dcterms:modified xsi:type="dcterms:W3CDTF">2026-07-09T18:24:37Z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6dfe78-8a37-4fb5-b4aa-b92b97e18d15_Enabled">
    <vt:lpwstr>true</vt:lpwstr>
  </property>
  <property fmtid="{D5CDD505-2E9C-101B-9397-08002B2CF9AE}" pid="3" name="MSIP_Label_556dfe78-8a37-4fb5-b4aa-b92b97e18d15_SetDate">
    <vt:lpwstr>2026-07-09T18:24:37Z</vt:lpwstr>
  </property>
  <property fmtid="{D5CDD505-2E9C-101B-9397-08002B2CF9AE}" pid="4" name="MSIP_Label_556dfe78-8a37-4fb5-b4aa-b92b97e18d15_Method">
    <vt:lpwstr>Standard</vt:lpwstr>
  </property>
  <property fmtid="{D5CDD505-2E9C-101B-9397-08002B2CF9AE}" pid="5" name="MSIP_Label_556dfe78-8a37-4fb5-b4aa-b92b97e18d15_Name">
    <vt:lpwstr>Internal</vt:lpwstr>
  </property>
  <property fmtid="{D5CDD505-2E9C-101B-9397-08002B2CF9AE}" pid="6" name="MSIP_Label_556dfe78-8a37-4fb5-b4aa-b92b97e18d15_SiteId">
    <vt:lpwstr>189de737-c93a-4f5a-8b68-6f4ca9941912</vt:lpwstr>
  </property>
  <property fmtid="{D5CDD505-2E9C-101B-9397-08002B2CF9AE}" pid="7" name="MSIP_Label_556dfe78-8a37-4fb5-b4aa-b92b97e18d15_ActionId">
    <vt:lpwstr>50eb1a61-0776-4c7a-89d6-3607d6383a1d</vt:lpwstr>
  </property>
  <property fmtid="{D5CDD505-2E9C-101B-9397-08002B2CF9AE}" pid="8" name="MSIP_Label_556dfe78-8a37-4fb5-b4aa-b92b97e18d15_ContentBits">
    <vt:lpwstr>1</vt:lpwstr>
  </property>
  <property fmtid="{D5CDD505-2E9C-101B-9397-08002B2CF9AE}" pid="9" name="MSIP_Label_556dfe78-8a37-4fb5-b4aa-b92b97e18d15_Tag">
    <vt:lpwstr>10, 3, 0, 1</vt:lpwstr>
  </property>
  <property fmtid="{D5CDD505-2E9C-101B-9397-08002B2CF9AE}" pid="10" name="ClassificationContentMarkingHeaderLocations">
    <vt:lpwstr>ChatGPT:3</vt:lpwstr>
  </property>
  <property fmtid="{D5CDD505-2E9C-101B-9397-08002B2CF9AE}" pid="11" name="ClassificationContentMarkingHeaderText">
    <vt:lpwstr>Classification: Internal</vt:lpwstr>
  </property>
</Properties>
</file>